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3657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72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• TYPESCRIPT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&amp; Async/Await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· async/await · Arrow Function </a:t>
            </a:r>
            <a:pPr indent="0" marL="0">
              <a:buNone/>
            </a:pPr>
            <a:r>
              <a:rPr lang="en-US" sz="20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vì sao Playwright cần </a:t>
            </a:r>
            <a:pPr indent="0" marL="0">
              <a:buNone/>
            </a:pPr>
            <a:r>
              <a:rPr lang="en-US" sz="20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4023360"/>
            <a:ext cx="2926080" cy="0"/>
          </a:xfrm>
          <a:prstGeom prst="line">
            <a:avLst/>
          </a:prstGeom>
          <a:noFill/>
          <a:ln w="38100">
            <a:solidFill>
              <a:srgbClr val="317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xuyên suốt:  </a:t>
            </a:r>
            <a:pPr indent="0" marL="0">
              <a:buNone/>
            </a:pPr>
            <a:r>
              <a:rPr lang="en-US" sz="14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PayGate</a:t>
            </a:r>
            <a:pPr indent="0" marL="0">
              <a:buNone/>
            </a:pPr>
            <a:r>
              <a:rPr lang="en-US" sz="14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type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NỘI DUNG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ta sẽ đi qua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1B2E4A"/>
          </a:solidFill>
          <a:ln/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02536"/>
            <a:ext cx="292608" cy="292608"/>
          </a:xfrm>
          <a:prstGeom prst="ellipse">
            <a:avLst/>
          </a:prstGeom>
          <a:solidFill>
            <a:srgbClr val="3178C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61872" y="1947672"/>
            <a:ext cx="4572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xử lý → output; định nghĩa vs gọi; tham số &amp; kiểu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1B2E4A"/>
          </a:solidFill>
          <a:ln/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02536"/>
            <a:ext cx="292608" cy="292608"/>
          </a:xfrm>
          <a:prstGeom prst="ellipse">
            <a:avLst/>
          </a:prstGeom>
          <a:solidFill>
            <a:srgbClr val="56C8D8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39712" y="1947672"/>
            <a:ext cx="4572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Kiểu trả về &amp; void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kiểu output; hàm không trả giá trị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1B2E4A"/>
          </a:solidFill>
          <a:ln/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419856"/>
            <a:ext cx="292608" cy="29260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61872" y="3364992"/>
            <a:ext cx="4572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 mặc định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 tùy chọn với giá trị sẵn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1B2E4A"/>
          </a:solidFill>
          <a:ln/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19856"/>
            <a:ext cx="292608" cy="29260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9712" y="3364992"/>
            <a:ext cx="4572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Kiểu dùng nhiều nhất trong Playwright + this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1B2E4A"/>
          </a:solidFill>
          <a:ln/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837176"/>
            <a:ext cx="292608" cy="29260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61872" y="4782312"/>
            <a:ext cx="4572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diện kết quả bất đồng bộ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1B2E4A"/>
          </a:solidFill>
          <a:ln/>
          <a:effectLst>
            <a:outerShdw sx="100000" sy="100000" kx="0" ky="0" algn="bl" rotWithShape="0" blurRad="76200" dist="25400" dir="54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837176"/>
            <a:ext cx="292608" cy="29260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9712" y="4782312"/>
            <a:ext cx="4572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Playwright cần await &amp; lỗi khi quên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• 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là gì?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cốt lõi: INPUT → XỬ LÝ → OUTPUT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1B2E4A"/>
          </a:solidFill>
          <a:ln w="19050">
            <a:solidFill>
              <a:srgbClr val="3178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
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BB0C9"/>
                </a:solidFill>
              </a:rPr>
              <a:t>tham số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21945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1B2E4A"/>
          </a:solidFill>
          <a:ln w="19050">
            <a:solidFill>
              <a:srgbClr val="56C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194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XỬ LÝ
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BB0C9"/>
                </a:solidFill>
              </a:rPr>
              <a:t>thân hàm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21945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1B2E4A"/>
          </a:solidFill>
          <a:ln w="19050">
            <a:solidFill>
              <a:srgbClr val="4E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194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
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BB0C9"/>
                </a:solidFill>
              </a:rPr>
              <a:t>giá trị trả về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66674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66674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3856" y="366674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04488"/>
            <a:ext cx="1060704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Input: amount → Xử lý: cộng phí → Output: number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addFee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amount *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0.011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phí 1.1%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+ fee;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•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nghĩa hàm  ≠  Gọi hàm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B2E4A"/>
          </a:solidFill>
          <a:ln w="19050">
            <a:solidFill>
              <a:srgbClr val="317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ĐỊNH NGHĨA
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hàm làm gì —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chạy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72200" y="1783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B2E4A"/>
          </a:solidFill>
          <a:ln w="19050">
            <a:solidFill>
              <a:srgbClr val="4EC9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9659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GỌI
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thực thi —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ngay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348386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348386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" y="348386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21608"/>
            <a:ext cx="10607040" cy="2331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ĐỊNH NGHĨA — mới chỉ mô tả, chưa có gì xảy ra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logStatus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"Trạng thái:"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status);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GỌI — bây giờ hàm mới thực sự chạy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logStatus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Trạng thái: SUCCESS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• 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Tham số &amp; kiểu tham số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khai báo kiểu để TypeScript bắt lỗi sớm.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4086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34086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34086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78608"/>
            <a:ext cx="10607040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formatMoney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currency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`${amount.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toLocaleString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("vi-VN")} ${currency}`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12261D"/>
          </a:solidFill>
          <a:ln w="12700">
            <a:solidFill>
              <a:srgbClr val="4EC9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EC9B0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formatMoney(50000, "VND")</a:t>
            </a:r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→ "50.000 VND"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493776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2A1518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06C75"/>
                </a:solidFill>
              </a:rPr>
              <a:t>✗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formatMoney("50000", "VND")</a:t>
            </a:r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Lỗi biên dịch: string ✗ number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• 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Kiểu trả về &amp; hàm 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293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92938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67128"/>
            <a:ext cx="5074920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Trả về number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getTax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36792" y="19293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1" name="Shape 9"/>
          <p:cNvSpPr/>
          <p:nvPr/>
        </p:nvSpPr>
        <p:spPr>
          <a:xfrm>
            <a:off x="6501384" y="19293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5976" y="192938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167128"/>
            <a:ext cx="5074920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void: không trả giá trị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printReceipt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PaymentData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(d.transactionId);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B2E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dùng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chỉ gây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dụng phụ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 log, gọi API, cập nhật UI — mà không cần trả dữ liệu về cho nơi gọi.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• 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 mặc định cho tham số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293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92938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67128"/>
            <a:ext cx="1060704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createPayment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currency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"VND"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`Thanh toán ${amount} ${currency}`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15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createPayment(100000)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"Thanh toán 100000 VND"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41605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315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createPayment(100000, "USD")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"Thanh toán 100000 USD"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Quy tắc:  </a:t>
            </a:r>
            <a:pPr indent="0" marL="0">
              <a:buNone/>
            </a:pPr>
            <a:r>
              <a:rPr lang="en-US" sz="14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 có giá trị mặc định nên đặt </a:t>
            </a:r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</a:t>
            </a:r>
            <a:pPr indent="0" marL="0">
              <a:buNone/>
            </a:pPr>
            <a:r>
              <a:rPr lang="en-US" sz="14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danh sách tham số.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FUNCTION • 1.6 • TRỌNG TÂM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Function — cú pháp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Kiểu hàm bạn viết &amp; gặp nhiều nhất trong Playwright + TypeScript.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4086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34086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34086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78608"/>
            <a:ext cx="1060704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Dạng đầy đủ: có { } và return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getTax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{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*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Rút gọn: 1 biểu thức return → bỏ { } và return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getTaxShort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a *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isSuccess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PaymentData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d.status ===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Trả object literal → phải bọc trong ( )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toSummary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PaymentData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({ id: d.transactionId });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FUNCTION •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giữ nguyên  this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KHÔNG tạo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riêng → mượn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của ngữ cảnh bao quanh. Function thường thì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đổi tùy cách gọi.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7802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47802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47802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15768"/>
            <a:ext cx="507492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function thường → this MẤT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PaymentProcessor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prefix =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"PayGate"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processAll(txs) {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txs.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(tx) {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.prefix // undefined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Cannot read 'prefix' of undefined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36792" y="247802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01384" y="247802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6665976" y="247802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715768"/>
            <a:ext cx="507492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arrow → this GIỮ NGUYÊN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PaymentProcessor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prefix =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"PayGate"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processAll(txs) {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txs.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((tx)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{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.prefix // PayGate ✓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= instance PaymentProcessor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FUNCTION • PLAYWRIGHT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trong Playwright — dùng nhiều nhất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293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92938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67128"/>
            <a:ext cx="1060704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Callback của test — phổ biến nhất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"thanh toán thành công"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({ page })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{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"https://dev2-mtf.opdev.vn"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getByRole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"Pay"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Hook   3) $$eval   4) filter   5) helper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beforeEach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({ page })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"/login"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maskCard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"**** 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ước team: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(test/hook/filter/eval) &amp; helper ngắn →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method trong class POM →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method thường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PHẦN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/ Await &amp; Promise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indent="0" marL="0">
              <a:buNone/>
            </a:pPr>
            <a:r>
              <a:rPr lang="en-US" sz="18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page.goto(...)  </a:t>
            </a:r>
            <a:pPr indent="0" marL="0">
              <a:buNone/>
            </a:pPr>
            <a:r>
              <a:rPr lang="en-US" sz="18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vì sao mọi thao tác Playwright là bất đồng bộ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74152" y="457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/ await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 • 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là gì?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đại diện cho kết quả của một tác vụ bất đồng bộ (chưa có ngay).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B2E4A"/>
          </a:solidFill>
          <a:ln w="19050">
            <a:solidFill>
              <a:srgbClr val="E5C0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95728"/>
            <a:ext cx="256032" cy="25603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
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chờ, chưa xong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B2E4A"/>
          </a:solidFill>
          <a:ln w="19050">
            <a:solidFill>
              <a:srgbClr val="4EC9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2395728"/>
            <a:ext cx="256032" cy="256032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FULFILLED
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thành, có kết quả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B2E4A"/>
          </a:solidFill>
          <a:ln w="19050">
            <a:solidFill>
              <a:srgbClr val="E06C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2395728"/>
            <a:ext cx="256032" cy="25603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
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thất bại, có lỗi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10881360" cy="2514600"/>
          </a:xfrm>
          <a:prstGeom prst="roundRect">
            <a:avLst>
              <a:gd name="adj" fmla="val 2909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7581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" y="37581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3856" y="375818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95928"/>
            <a:ext cx="1060704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fetchPaymentRaw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PaymentData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((resolve, reject)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{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...paymentData }),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 • GENERIC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Promise&lt;PaymentData&gt;?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Promise&lt;T&gt;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là kiểu generic: phần trong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&lt;...&gt;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 biết khi Promise xong sẽ trả ra dữ liệu kiểu gì.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3230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43230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43230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70048"/>
            <a:ext cx="507492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Đồng bộ: có ngay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getSync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PaymentData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trả PaymentData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36792" y="243230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01384" y="243230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6665976" y="243230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670048"/>
            <a:ext cx="507492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Bất đồng bộ: có sau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getAsync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PaymentData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trả LỜI HỨA sẽ có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1B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53712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khai báo trả về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PaymentData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trực tiếp — dữ liệu chưa có tại lúc return (chỉ có sau 500ms). Hàm chỉ trả về lời hứa sẽ có, tức một Promise. Giá trị thật được đưa vào qua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resolve(...)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Promise&lt;number&gt; · Promise&lt;boolean&gt; · Promise&lt;PaymentData[]&gt; · Promise&lt;void&gt;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/ AWAIT • 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/ await hoạt động ra sao?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1B2E4A"/>
          </a:solidFill>
          <a:ln w="19050">
            <a:solidFill>
              <a:srgbClr val="317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luôn trả về một Promise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7373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1B2E4A"/>
          </a:solidFill>
          <a:ln w="19050">
            <a:solidFill>
              <a:srgbClr val="4EC9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874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Tạm dừng đến khi Promise xong, rồi lấy giá trị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311810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311810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" y="311810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55848"/>
            <a:ext cx="106070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safeFetch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fetchPaymentRaw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(id);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chờ ở đây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"Lấy được:"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data.transactionId);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(error) {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"Lỗi:"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(error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).message);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/ AWAIT • 2.3 &amp; 2.4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Playwright cần await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như mọi thao tác Playwright là bất đồng bộ (trả Promise) — quên await gây test flaky.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9514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29514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29514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32888"/>
            <a:ext cx="5074920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✗ QUÊN await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getByRole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click chạy trước khi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trang load xong ✗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(locator).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toBeVisible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assertion không được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chờ → pass giả ✗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fetchPaymentRaw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d.status // undefined ✗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0A1420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36792" y="229514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01384" y="229514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6665976" y="2295144"/>
            <a:ext cx="100584" cy="10058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532888"/>
            <a:ext cx="5074920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CÓ await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getByRole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(loc)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toBeVisible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17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fetch(id);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d.status // SUCCESS ✓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Mẹo ESLint: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no-floating-promises</a:t>
            </a:r>
            <a:pPr algn="l"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TỔNG KẾT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nhớ nhanh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1B2E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237744" cy="237744"/>
          </a:xfrm>
          <a:prstGeom prst="ellipse">
            <a:avLst/>
          </a:prstGeom>
          <a:solidFill>
            <a:srgbClr val="3178C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Xử lý → Output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1B2E4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587752"/>
            <a:ext cx="237744" cy="237744"/>
          </a:xfrm>
          <a:prstGeom prst="ellipse">
            <a:avLst/>
          </a:prstGeom>
          <a:solidFill>
            <a:srgbClr val="3178C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4231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Định nghĩa vs Gọi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4231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mô tả · gọi mới chạy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1B2E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227832"/>
            <a:ext cx="237744" cy="237744"/>
          </a:xfrm>
          <a:prstGeom prst="ellipse">
            <a:avLst/>
          </a:prstGeom>
          <a:solidFill>
            <a:srgbClr val="56C8D8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0632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0632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không trả giá trị (tác dụng phụ)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1B2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867912"/>
            <a:ext cx="237744" cy="23774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7033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(trọng tâm)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7033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&amp; helper trong Playwright; giữ this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1B2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507992"/>
            <a:ext cx="237744" cy="23774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43434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Promise&lt;T&gt;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43434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bất đồng bộ; T là kiểu trả ra khi xong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1B2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148072"/>
            <a:ext cx="237744" cy="237744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49834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/ await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9834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async như đồng bộ; mọi thao tác PW phải await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1B2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788152"/>
            <a:ext cx="237744" cy="23774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30" name="Text 28"/>
          <p:cNvSpPr/>
          <p:nvPr/>
        </p:nvSpPr>
        <p:spPr>
          <a:xfrm>
            <a:off x="1234440" y="56235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Quên await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56235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· pass giả · undefined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2026-07-15T07:45:10Z</dcterms:created>
  <dcterms:modified xsi:type="dcterms:W3CDTF">2026-07-15T07:45:10Z</dcterms:modified>
</cp:coreProperties>
</file>