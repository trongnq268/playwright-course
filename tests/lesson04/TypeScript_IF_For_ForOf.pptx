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8896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mở đầu. Nhấn mạnh: buổi trước đã dựng được mảng PaymentData[], buổi này học cách XỬ LÝ danh sách đó. Mục tiêu: if/else, vòng lặp, sơ lược map/filter, import/export, và vì sao tránh any.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roadmap của buổi. Mỗi thẻ tương ứng một phần chính. Nói ngắn: sau buổi này học viên tự viết được vòng lặp lọc giao dịch và tách file.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nền tảng: giới thiệu KHÁI NIỆM câu lệnh điều kiện trước. Dạng đơn giản nhất là if đơn (không else): điều kiện đúng thì chạy, sai thì bỏ qua. Sau đó giới thiệu toán tử logic &amp;&amp; (và), || (hoặc), ! (phủ định) để kết hợp nhiều điều kiện. Slide kế tiếp mới thêm else, rồi else if.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 so sánh cả giá trị lẫn kiểu. Nhấn: assert trong test = if kiểm điều kiện. Slide sau sẽ mở rộng sang if/else if/else nhiều nhánh.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amount = 1.500.000 → nhánh đầu tiên (&gt;= 1.000.000) đúng nên in 'Giá trị lớn'. Nhấn thứ tự điều kiện quan trọng: TS xét từ trên xuống, dừng ở điều kiện đúng đầu tiên. Đây là logic phân loại giao dịch rất hay gặp trong hệ thống payment.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hai kiểu vòng lặp cạnh nhau. Nhấn: for...of ngắn, ít lỗi off-by-one hơn. Chỉ dùng for index khi thật sự cần vị trí phần tử.</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Nhấn: object trong mảng truy cập bằng dấu chấm payment.status. Kết hợp for...of + if = lọc. Bảng kết quả bên phải minh hoạ 3 trạng thái, chỉ TXN001 lọt lọc SUCCESS.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giới thiệu mức nhận biết. Ẩn dụ: filter là cái sàng giữ lại phần tử; map là băng chuyền biến đổi từng phần tử. Trấn an học viên: giai đoạn này cứ dùng for...of.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 = cùng thư mục, không cần .ts. Named export dùng {} khi import; default export không dùng {} và tự đặt tên. Khoá học ưu tiên named export.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cảnh báo — dùng nền tối để nhấn mạnh mức độ nghiêm trọng. Điểm chốt: any vứt bỏ lợi thế bắt lỗi lúc compile. Ví dụ gõ sai amout minh hoạ rõ. Với payment, an toàn kiểu là bắt buộc.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ôn tập nhanh cả buổi. Đọc lướt từng dòng, hỏi học viên nhắc lại ý nghĩa. Đây là 'phao' để mang về nhà.</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a:effectLst/>
      </p:bgPr>
    </p:bg>
    <p:spTree>
      <p:nvGrpSpPr>
        <p:cNvPr id="1" name=""/>
        <p:cNvGrpSpPr/>
        <p:nvPr/>
      </p:nvGrpSpPr>
      <p:grpSpPr>
        <a:xfrm>
          <a:off x="0" y="0"/>
          <a:ext cx="0" cy="0"/>
          <a:chOff x="0" y="0"/>
          <a:chExt cx="0" cy="0"/>
        </a:xfrm>
      </p:grpSpPr>
      <p:sp>
        <p:nvSpPr>
          <p:cNvPr id="2" name="Shape 0"/>
          <p:cNvSpPr/>
          <p:nvPr/>
        </p:nvSpPr>
        <p:spPr>
          <a:xfrm>
            <a:off x="9509760" y="-1371600"/>
            <a:ext cx="4206240" cy="4206240"/>
          </a:xfrm>
          <a:prstGeom prst="ellipse">
            <a:avLst/>
          </a:prstGeom>
          <a:solidFill>
            <a:srgbClr val="028090">
              <a:alpha val="18000"/>
            </a:srgbClr>
          </a:solidFill>
          <a:ln/>
        </p:spPr>
        <p:txBody>
          <a:bodyPr/>
          <a:lstStyle/>
          <a:p>
            <a:endParaRPr lang="en-US"/>
          </a:p>
        </p:txBody>
      </p:sp>
      <p:sp>
        <p:nvSpPr>
          <p:cNvPr id="3" name="Shape 1"/>
          <p:cNvSpPr/>
          <p:nvPr/>
        </p:nvSpPr>
        <p:spPr>
          <a:xfrm>
            <a:off x="10332720" y="-640080"/>
            <a:ext cx="2743200" cy="2743200"/>
          </a:xfrm>
          <a:prstGeom prst="ellipse">
            <a:avLst/>
          </a:prstGeom>
          <a:solidFill>
            <a:srgbClr val="00A896">
              <a:alpha val="22000"/>
            </a:srgbClr>
          </a:solidFill>
          <a:ln/>
        </p:spPr>
        <p:txBody>
          <a:bodyPr/>
          <a:lstStyle/>
          <a:p>
            <a:endParaRPr lang="en-US"/>
          </a:p>
        </p:txBody>
      </p:sp>
      <p:sp>
        <p:nvSpPr>
          <p:cNvPr id="4" name="Shape 2"/>
          <p:cNvSpPr/>
          <p:nvPr/>
        </p:nvSpPr>
        <p:spPr>
          <a:xfrm>
            <a:off x="-1188720" y="4937760"/>
            <a:ext cx="3108960" cy="3108960"/>
          </a:xfrm>
          <a:prstGeom prst="ellipse">
            <a:avLst/>
          </a:prstGeom>
          <a:solidFill>
            <a:srgbClr val="02C39A">
              <a:alpha val="15000"/>
            </a:srgbClr>
          </a:solidFill>
          <a:ln/>
        </p:spPr>
        <p:txBody>
          <a:bodyPr/>
          <a:lstStyle/>
          <a:p>
            <a:endParaRPr lang="en-US"/>
          </a:p>
        </p:txBody>
      </p:sp>
      <p:sp>
        <p:nvSpPr>
          <p:cNvPr id="5" name="Text 3"/>
          <p:cNvSpPr/>
          <p:nvPr/>
        </p:nvSpPr>
        <p:spPr>
          <a:xfrm>
            <a:off x="822960" y="1417320"/>
            <a:ext cx="8229600" cy="457200"/>
          </a:xfrm>
          <a:prstGeom prst="rect">
            <a:avLst/>
          </a:prstGeom>
          <a:noFill/>
          <a:ln/>
        </p:spPr>
        <p:txBody>
          <a:bodyPr wrap="square" rtlCol="0" anchor="ctr"/>
          <a:lstStyle/>
          <a:p>
            <a:pPr marL="0" indent="0">
              <a:buNone/>
            </a:pPr>
            <a:r>
              <a:rPr lang="en-US" sz="1500" b="1" kern="0" spc="300" dirty="0">
                <a:solidFill>
                  <a:srgbClr val="02C39A"/>
                </a:solidFill>
                <a:latin typeface="Calibri" pitchFamily="34" charset="0"/>
                <a:ea typeface="Calibri" pitchFamily="34" charset="-122"/>
                <a:cs typeface="Calibri" pitchFamily="34" charset="-120"/>
              </a:rPr>
              <a:t>TYPESCRIPT FUNDAMENTALS</a:t>
            </a:r>
            <a:endParaRPr lang="en-US" sz="1500" dirty="0"/>
          </a:p>
        </p:txBody>
      </p:sp>
      <p:sp>
        <p:nvSpPr>
          <p:cNvPr id="6" name="Text 4"/>
          <p:cNvSpPr/>
          <p:nvPr/>
        </p:nvSpPr>
        <p:spPr>
          <a:xfrm>
            <a:off x="777240" y="1874520"/>
            <a:ext cx="10515600" cy="13716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IF, For và For...of</a:t>
            </a:r>
            <a:endParaRPr lang="en-US" sz="5400" dirty="0"/>
          </a:p>
        </p:txBody>
      </p:sp>
      <p:sp>
        <p:nvSpPr>
          <p:cNvPr id="7" name="Text 5"/>
          <p:cNvSpPr/>
          <p:nvPr/>
        </p:nvSpPr>
        <p:spPr>
          <a:xfrm>
            <a:off x="822960" y="3200400"/>
            <a:ext cx="9601200" cy="548640"/>
          </a:xfrm>
          <a:prstGeom prst="rect">
            <a:avLst/>
          </a:prstGeom>
          <a:noFill/>
          <a:ln/>
        </p:spPr>
        <p:txBody>
          <a:bodyPr wrap="square" rtlCol="0" anchor="ctr"/>
          <a:lstStyle/>
          <a:p>
            <a:pPr marL="0" indent="0">
              <a:buNone/>
            </a:pPr>
            <a:r>
              <a:rPr lang="en-US" sz="1700" dirty="0">
                <a:solidFill>
                  <a:srgbClr val="AFCBCE"/>
                </a:solidFill>
                <a:latin typeface="Calibri" pitchFamily="34" charset="0"/>
                <a:ea typeface="Calibri" pitchFamily="34" charset="-122"/>
                <a:cs typeface="Calibri" pitchFamily="34" charset="-120"/>
              </a:rPr>
              <a:t>Ra quyết định với điều kiện · Duyệt danh sách giao dịch · Module &amp; type an toàn</a:t>
            </a:r>
            <a:endParaRPr lang="en-US" sz="1700" dirty="0"/>
          </a:p>
        </p:txBody>
      </p:sp>
      <p:sp>
        <p:nvSpPr>
          <p:cNvPr id="8" name="Shape 6"/>
          <p:cNvSpPr/>
          <p:nvPr/>
        </p:nvSpPr>
        <p:spPr>
          <a:xfrm>
            <a:off x="822960" y="4160520"/>
            <a:ext cx="4937760" cy="868680"/>
          </a:xfrm>
          <a:prstGeom prst="roundRect">
            <a:avLst>
              <a:gd name="adj" fmla="val 10526"/>
            </a:avLst>
          </a:prstGeom>
          <a:solidFill>
            <a:srgbClr val="FFFFFF">
              <a:alpha val="8000"/>
            </a:srgbClr>
          </a:solidFill>
          <a:ln w="12700">
            <a:solidFill>
              <a:srgbClr val="02809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051560" y="4370832"/>
            <a:ext cx="438912" cy="438912"/>
          </a:xfrm>
          <a:prstGeom prst="rect">
            <a:avLst/>
          </a:prstGeom>
        </p:spPr>
      </p:pic>
      <p:sp>
        <p:nvSpPr>
          <p:cNvPr id="10" name="Text 7"/>
          <p:cNvSpPr/>
          <p:nvPr/>
        </p:nvSpPr>
        <p:spPr>
          <a:xfrm>
            <a:off x="1645920" y="4160520"/>
            <a:ext cx="3977640" cy="8686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Đối tượng: </a:t>
            </a:r>
            <a:r>
              <a:rPr lang="en-US" sz="1250" dirty="0">
                <a:solidFill>
                  <a:srgbClr val="CFE3E3"/>
                </a:solidFill>
                <a:latin typeface="Calibri" pitchFamily="34" charset="0"/>
                <a:ea typeface="Calibri" pitchFamily="34" charset="-122"/>
                <a:cs typeface="Calibri" pitchFamily="34" charset="-120"/>
              </a:rPr>
              <a:t>QA Manual chuyển sang Automation</a:t>
            </a:r>
            <a:endParaRPr lang="en-US" sz="1250" dirty="0"/>
          </a:p>
        </p:txBody>
      </p:sp>
      <p:sp>
        <p:nvSpPr>
          <p:cNvPr id="11" name="Shape 8"/>
          <p:cNvSpPr/>
          <p:nvPr/>
        </p:nvSpPr>
        <p:spPr>
          <a:xfrm>
            <a:off x="5943600" y="4160520"/>
            <a:ext cx="5394960" cy="868680"/>
          </a:xfrm>
          <a:prstGeom prst="roundRect">
            <a:avLst>
              <a:gd name="adj" fmla="val 10526"/>
            </a:avLst>
          </a:prstGeom>
          <a:solidFill>
            <a:srgbClr val="FFFFFF">
              <a:alpha val="8000"/>
            </a:srgbClr>
          </a:solidFill>
          <a:ln w="12700">
            <a:solidFill>
              <a:srgbClr val="028090"/>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172200" y="4370832"/>
            <a:ext cx="438912" cy="438912"/>
          </a:xfrm>
          <a:prstGeom prst="rect">
            <a:avLst/>
          </a:prstGeom>
        </p:spPr>
      </p:pic>
      <p:sp>
        <p:nvSpPr>
          <p:cNvPr id="13" name="Text 9"/>
          <p:cNvSpPr/>
          <p:nvPr/>
        </p:nvSpPr>
        <p:spPr>
          <a:xfrm>
            <a:off x="6766560" y="4160520"/>
            <a:ext cx="4434840" cy="8686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Bối cảnh: </a:t>
            </a:r>
            <a:r>
              <a:rPr lang="en-US" sz="1250" dirty="0">
                <a:solidFill>
                  <a:srgbClr val="CFE3E3"/>
                </a:solidFill>
                <a:latin typeface="Calibri" pitchFamily="34" charset="0"/>
                <a:ea typeface="Calibri" pitchFamily="34" charset="-122"/>
                <a:cs typeface="Calibri" pitchFamily="34" charset="-120"/>
              </a:rPr>
              <a:t>Đã có mảng PaymentData[], giờ học cách xử lý</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502920" y="457200"/>
            <a:ext cx="658368" cy="658368"/>
          </a:xfrm>
          <a:prstGeom prst="ellipse">
            <a:avLst/>
          </a:prstGeom>
          <a:solidFill>
            <a:srgbClr val="028090"/>
          </a:solidFill>
          <a:ln/>
          <a:effectLst>
            <a:outerShdw blurRad="88900" dist="25400" dir="5400000" algn="bl" rotWithShape="0">
              <a:srgbClr val="000000">
                <a:alpha val="1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612648"/>
            <a:ext cx="347472" cy="347472"/>
          </a:xfrm>
          <a:prstGeom prst="rect">
            <a:avLst/>
          </a:prstGeom>
        </p:spPr>
      </p:pic>
      <p:sp>
        <p:nvSpPr>
          <p:cNvPr id="4" name="Text 1"/>
          <p:cNvSpPr/>
          <p:nvPr/>
        </p:nvSpPr>
        <p:spPr>
          <a:xfrm>
            <a:off x="1325880" y="457200"/>
            <a:ext cx="9601200" cy="658368"/>
          </a:xfrm>
          <a:prstGeom prst="rect">
            <a:avLst/>
          </a:prstGeom>
          <a:noFill/>
          <a:ln/>
        </p:spPr>
        <p:txBody>
          <a:bodyPr wrap="square" lIns="0" tIns="0" rIns="0" bIns="0" rtlCol="0" anchor="ctr"/>
          <a:lstStyle/>
          <a:p>
            <a:pPr marL="0" indent="0">
              <a:buNone/>
            </a:pPr>
            <a:r>
              <a:rPr lang="en-US" sz="2700" b="1" dirty="0">
                <a:solidFill>
                  <a:srgbClr val="12343B"/>
                </a:solidFill>
                <a:latin typeface="Calibri" pitchFamily="34" charset="0"/>
                <a:ea typeface="Calibri" pitchFamily="34" charset="-122"/>
                <a:cs typeface="Calibri" pitchFamily="34" charset="-120"/>
              </a:rPr>
              <a:t>Mục tiêu buổi học</a:t>
            </a:r>
            <a:endParaRPr lang="en-US" sz="2700" dirty="0"/>
          </a:p>
        </p:txBody>
      </p:sp>
      <p:sp>
        <p:nvSpPr>
          <p:cNvPr id="5" name="Text 2"/>
          <p:cNvSpPr/>
          <p:nvPr/>
        </p:nvSpPr>
        <p:spPr>
          <a:xfrm>
            <a:off x="10241280" y="548640"/>
            <a:ext cx="1417320" cy="457200"/>
          </a:xfrm>
          <a:prstGeom prst="rect">
            <a:avLst/>
          </a:prstGeom>
          <a:noFill/>
          <a:ln/>
        </p:spPr>
        <p:txBody>
          <a:bodyPr wrap="square" rtlCol="0" anchor="ctr"/>
          <a:lstStyle/>
          <a:p>
            <a:pPr marL="0" indent="0" algn="r">
              <a:buNone/>
            </a:pPr>
            <a:r>
              <a:rPr lang="en-US" sz="1200" b="1" kern="0" spc="200" dirty="0">
                <a:solidFill>
                  <a:srgbClr val="00A896"/>
                </a:solidFill>
                <a:latin typeface="Calibri" pitchFamily="34" charset="0"/>
                <a:ea typeface="Calibri" pitchFamily="34" charset="-122"/>
                <a:cs typeface="Calibri" pitchFamily="34" charset="-120"/>
              </a:rPr>
              <a:t>BÀI 0</a:t>
            </a:r>
            <a:endParaRPr lang="en-US" sz="1200" dirty="0"/>
          </a:p>
        </p:txBody>
      </p:sp>
      <p:sp>
        <p:nvSpPr>
          <p:cNvPr id="6" name="Shape 3"/>
          <p:cNvSpPr/>
          <p:nvPr/>
        </p:nvSpPr>
        <p:spPr>
          <a:xfrm>
            <a:off x="548640" y="1600200"/>
            <a:ext cx="5394960" cy="2194560"/>
          </a:xfrm>
          <a:prstGeom prst="roundRect">
            <a:avLst>
              <a:gd name="adj" fmla="val 3750"/>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7" name="Shape 4"/>
          <p:cNvSpPr/>
          <p:nvPr/>
        </p:nvSpPr>
        <p:spPr>
          <a:xfrm>
            <a:off x="868680" y="1947672"/>
            <a:ext cx="777240" cy="777240"/>
          </a:xfrm>
          <a:prstGeom prst="ellipse">
            <a:avLst/>
          </a:prstGeom>
          <a:solidFill>
            <a:srgbClr val="028090"/>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1060704" y="2139696"/>
            <a:ext cx="393192" cy="393192"/>
          </a:xfrm>
          <a:prstGeom prst="rect">
            <a:avLst/>
          </a:prstGeom>
        </p:spPr>
      </p:pic>
      <p:sp>
        <p:nvSpPr>
          <p:cNvPr id="9" name="Text 5"/>
          <p:cNvSpPr/>
          <p:nvPr/>
        </p:nvSpPr>
        <p:spPr>
          <a:xfrm>
            <a:off x="1874520" y="1965960"/>
            <a:ext cx="3840480" cy="640080"/>
          </a:xfrm>
          <a:prstGeom prst="rect">
            <a:avLst/>
          </a:prstGeom>
          <a:noFill/>
          <a:ln/>
        </p:spPr>
        <p:txBody>
          <a:bodyPr wrap="square" lIns="0" tIns="0" rIns="0" bIns="0" rtlCol="0" anchor="ctr"/>
          <a:lstStyle/>
          <a:p>
            <a:pPr marL="0" indent="0">
              <a:buNone/>
            </a:pPr>
            <a:r>
              <a:rPr lang="en-US" sz="2200" b="1" dirty="0">
                <a:solidFill>
                  <a:srgbClr val="12343B"/>
                </a:solidFill>
                <a:latin typeface="Cambria" pitchFamily="34" charset="0"/>
                <a:ea typeface="Cambria" pitchFamily="34" charset="-122"/>
                <a:cs typeface="Cambria" pitchFamily="34" charset="-120"/>
              </a:rPr>
              <a:t>if / else</a:t>
            </a:r>
            <a:endParaRPr lang="en-US" sz="2200" dirty="0"/>
          </a:p>
        </p:txBody>
      </p:sp>
      <p:sp>
        <p:nvSpPr>
          <p:cNvPr id="10" name="Text 6"/>
          <p:cNvSpPr/>
          <p:nvPr/>
        </p:nvSpPr>
        <p:spPr>
          <a:xfrm>
            <a:off x="1874520" y="2651760"/>
            <a:ext cx="3794760" cy="914400"/>
          </a:xfrm>
          <a:prstGeom prst="rect">
            <a:avLst/>
          </a:prstGeom>
          <a:noFill/>
          <a:ln/>
        </p:spPr>
        <p:txBody>
          <a:bodyPr wrap="square" lIns="0" tIns="0" rIns="0" bIns="0" rtlCol="0" anchor="t"/>
          <a:lstStyle/>
          <a:p>
            <a:pPr marL="0" indent="0">
              <a:buNone/>
            </a:pPr>
            <a:r>
              <a:rPr lang="en-US" sz="1400" dirty="0">
                <a:solidFill>
                  <a:srgbClr val="5A7378"/>
                </a:solidFill>
                <a:latin typeface="Calibri" pitchFamily="34" charset="0"/>
                <a:ea typeface="Calibri" pitchFamily="34" charset="-122"/>
                <a:cs typeface="Calibri" pitchFamily="34" charset="-120"/>
              </a:rPr>
              <a:t>Ra quyết định theo điều kiện khi assert kết quả</a:t>
            </a:r>
            <a:endParaRPr lang="en-US" sz="1400" dirty="0"/>
          </a:p>
        </p:txBody>
      </p:sp>
      <p:sp>
        <p:nvSpPr>
          <p:cNvPr id="11" name="Shape 7"/>
          <p:cNvSpPr/>
          <p:nvPr/>
        </p:nvSpPr>
        <p:spPr>
          <a:xfrm>
            <a:off x="6263640" y="1600200"/>
            <a:ext cx="5394960" cy="2194560"/>
          </a:xfrm>
          <a:prstGeom prst="roundRect">
            <a:avLst>
              <a:gd name="adj" fmla="val 3750"/>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12" name="Shape 8"/>
          <p:cNvSpPr/>
          <p:nvPr/>
        </p:nvSpPr>
        <p:spPr>
          <a:xfrm>
            <a:off x="6583680" y="1947672"/>
            <a:ext cx="777240" cy="777240"/>
          </a:xfrm>
          <a:prstGeom prst="ellipse">
            <a:avLst/>
          </a:prstGeom>
          <a:solidFill>
            <a:srgbClr val="028090"/>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6775704" y="2139696"/>
            <a:ext cx="393192" cy="393192"/>
          </a:xfrm>
          <a:prstGeom prst="rect">
            <a:avLst/>
          </a:prstGeom>
        </p:spPr>
      </p:pic>
      <p:sp>
        <p:nvSpPr>
          <p:cNvPr id="14" name="Text 9"/>
          <p:cNvSpPr/>
          <p:nvPr/>
        </p:nvSpPr>
        <p:spPr>
          <a:xfrm>
            <a:off x="7589520" y="1965960"/>
            <a:ext cx="3840480" cy="640080"/>
          </a:xfrm>
          <a:prstGeom prst="rect">
            <a:avLst/>
          </a:prstGeom>
          <a:noFill/>
          <a:ln/>
        </p:spPr>
        <p:txBody>
          <a:bodyPr wrap="square" lIns="0" tIns="0" rIns="0" bIns="0" rtlCol="0" anchor="ctr"/>
          <a:lstStyle/>
          <a:p>
            <a:pPr marL="0" indent="0">
              <a:buNone/>
            </a:pPr>
            <a:r>
              <a:rPr lang="en-US" sz="2200" b="1" dirty="0">
                <a:solidFill>
                  <a:srgbClr val="12343B"/>
                </a:solidFill>
                <a:latin typeface="Cambria" pitchFamily="34" charset="0"/>
                <a:ea typeface="Cambria" pitchFamily="34" charset="-122"/>
                <a:cs typeface="Cambria" pitchFamily="34" charset="-120"/>
              </a:rPr>
              <a:t>Vòng lặp</a:t>
            </a:r>
            <a:endParaRPr lang="en-US" sz="2200" dirty="0"/>
          </a:p>
        </p:txBody>
      </p:sp>
      <p:sp>
        <p:nvSpPr>
          <p:cNvPr id="15" name="Text 10"/>
          <p:cNvSpPr/>
          <p:nvPr/>
        </p:nvSpPr>
        <p:spPr>
          <a:xfrm>
            <a:off x="7589520" y="2651760"/>
            <a:ext cx="3794760" cy="914400"/>
          </a:xfrm>
          <a:prstGeom prst="rect">
            <a:avLst/>
          </a:prstGeom>
          <a:noFill/>
          <a:ln/>
        </p:spPr>
        <p:txBody>
          <a:bodyPr wrap="square" lIns="0" tIns="0" rIns="0" bIns="0" rtlCol="0" anchor="t"/>
          <a:lstStyle/>
          <a:p>
            <a:pPr marL="0" indent="0">
              <a:buNone/>
            </a:pPr>
            <a:r>
              <a:rPr lang="en-US" sz="1400" dirty="0">
                <a:solidFill>
                  <a:srgbClr val="5A7378"/>
                </a:solidFill>
                <a:latin typeface="Calibri" pitchFamily="34" charset="0"/>
                <a:ea typeface="Calibri" pitchFamily="34" charset="-122"/>
                <a:cs typeface="Calibri" pitchFamily="34" charset="-120"/>
              </a:rPr>
              <a:t>Duyệt danh sách giao dịch tự động, không viết tay từng phần tử</a:t>
            </a:r>
            <a:endParaRPr lang="en-US" sz="1400" dirty="0"/>
          </a:p>
        </p:txBody>
      </p:sp>
      <p:sp>
        <p:nvSpPr>
          <p:cNvPr id="16" name="Shape 11"/>
          <p:cNvSpPr/>
          <p:nvPr/>
        </p:nvSpPr>
        <p:spPr>
          <a:xfrm>
            <a:off x="548640" y="4114800"/>
            <a:ext cx="5394960" cy="2194560"/>
          </a:xfrm>
          <a:prstGeom prst="roundRect">
            <a:avLst>
              <a:gd name="adj" fmla="val 3750"/>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17" name="Shape 12"/>
          <p:cNvSpPr/>
          <p:nvPr/>
        </p:nvSpPr>
        <p:spPr>
          <a:xfrm>
            <a:off x="868680" y="4462272"/>
            <a:ext cx="777240" cy="777240"/>
          </a:xfrm>
          <a:prstGeom prst="ellipse">
            <a:avLst/>
          </a:prstGeom>
          <a:solidFill>
            <a:srgbClr val="028090"/>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1060704" y="4654296"/>
            <a:ext cx="393192" cy="393192"/>
          </a:xfrm>
          <a:prstGeom prst="rect">
            <a:avLst/>
          </a:prstGeom>
        </p:spPr>
      </p:pic>
      <p:sp>
        <p:nvSpPr>
          <p:cNvPr id="19" name="Text 13"/>
          <p:cNvSpPr/>
          <p:nvPr/>
        </p:nvSpPr>
        <p:spPr>
          <a:xfrm>
            <a:off x="1874520" y="4480560"/>
            <a:ext cx="3840480" cy="640080"/>
          </a:xfrm>
          <a:prstGeom prst="rect">
            <a:avLst/>
          </a:prstGeom>
          <a:noFill/>
          <a:ln/>
        </p:spPr>
        <p:txBody>
          <a:bodyPr wrap="square" lIns="0" tIns="0" rIns="0" bIns="0" rtlCol="0" anchor="ctr"/>
          <a:lstStyle/>
          <a:p>
            <a:pPr marL="0" indent="0">
              <a:buNone/>
            </a:pPr>
            <a:r>
              <a:rPr lang="en-US" sz="2200" b="1" dirty="0">
                <a:solidFill>
                  <a:srgbClr val="12343B"/>
                </a:solidFill>
                <a:latin typeface="Cambria" pitchFamily="34" charset="0"/>
                <a:ea typeface="Cambria" pitchFamily="34" charset="-122"/>
                <a:cs typeface="Cambria" pitchFamily="34" charset="-120"/>
              </a:rPr>
              <a:t>map &amp; filter</a:t>
            </a:r>
            <a:endParaRPr lang="en-US" sz="2200" dirty="0"/>
          </a:p>
        </p:txBody>
      </p:sp>
      <p:sp>
        <p:nvSpPr>
          <p:cNvPr id="20" name="Text 14"/>
          <p:cNvSpPr/>
          <p:nvPr/>
        </p:nvSpPr>
        <p:spPr>
          <a:xfrm>
            <a:off x="1874520" y="5166360"/>
            <a:ext cx="3794760" cy="914400"/>
          </a:xfrm>
          <a:prstGeom prst="rect">
            <a:avLst/>
          </a:prstGeom>
          <a:noFill/>
          <a:ln/>
        </p:spPr>
        <p:txBody>
          <a:bodyPr wrap="square" lIns="0" tIns="0" rIns="0" bIns="0" rtlCol="0" anchor="t"/>
          <a:lstStyle/>
          <a:p>
            <a:pPr marL="0" indent="0">
              <a:buNone/>
            </a:pPr>
            <a:r>
              <a:rPr lang="en-US" sz="1400" dirty="0">
                <a:solidFill>
                  <a:srgbClr val="5A7378"/>
                </a:solidFill>
                <a:latin typeface="Calibri" pitchFamily="34" charset="0"/>
                <a:ea typeface="Calibri" pitchFamily="34" charset="-122"/>
                <a:cs typeface="Calibri" pitchFamily="34" charset="-120"/>
              </a:rPr>
              <a:t>Nhận biết cách lọc và biến đổi mảng gọn gàng</a:t>
            </a:r>
            <a:endParaRPr lang="en-US" sz="1400" dirty="0"/>
          </a:p>
        </p:txBody>
      </p:sp>
      <p:sp>
        <p:nvSpPr>
          <p:cNvPr id="21" name="Shape 15"/>
          <p:cNvSpPr/>
          <p:nvPr/>
        </p:nvSpPr>
        <p:spPr>
          <a:xfrm>
            <a:off x="6263640" y="4114800"/>
            <a:ext cx="5394960" cy="2194560"/>
          </a:xfrm>
          <a:prstGeom prst="roundRect">
            <a:avLst>
              <a:gd name="adj" fmla="val 3750"/>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22" name="Shape 16"/>
          <p:cNvSpPr/>
          <p:nvPr/>
        </p:nvSpPr>
        <p:spPr>
          <a:xfrm>
            <a:off x="6583680" y="4462272"/>
            <a:ext cx="777240" cy="777240"/>
          </a:xfrm>
          <a:prstGeom prst="ellipse">
            <a:avLst/>
          </a:prstGeom>
          <a:solidFill>
            <a:srgbClr val="028090"/>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6775704" y="4654296"/>
            <a:ext cx="393192" cy="393192"/>
          </a:xfrm>
          <a:prstGeom prst="rect">
            <a:avLst/>
          </a:prstGeom>
        </p:spPr>
      </p:pic>
      <p:sp>
        <p:nvSpPr>
          <p:cNvPr id="24" name="Text 17"/>
          <p:cNvSpPr/>
          <p:nvPr/>
        </p:nvSpPr>
        <p:spPr>
          <a:xfrm>
            <a:off x="7589520" y="4480560"/>
            <a:ext cx="3840480" cy="640080"/>
          </a:xfrm>
          <a:prstGeom prst="rect">
            <a:avLst/>
          </a:prstGeom>
          <a:noFill/>
          <a:ln/>
        </p:spPr>
        <p:txBody>
          <a:bodyPr wrap="square" lIns="0" tIns="0" rIns="0" bIns="0" rtlCol="0" anchor="ctr"/>
          <a:lstStyle/>
          <a:p>
            <a:pPr marL="0" indent="0">
              <a:buNone/>
            </a:pPr>
            <a:r>
              <a:rPr lang="en-US" sz="2200" b="1" dirty="0">
                <a:solidFill>
                  <a:srgbClr val="12343B"/>
                </a:solidFill>
                <a:latin typeface="Cambria" pitchFamily="34" charset="0"/>
                <a:ea typeface="Cambria" pitchFamily="34" charset="-122"/>
                <a:cs typeface="Cambria" pitchFamily="34" charset="-120"/>
              </a:rPr>
              <a:t>import / export</a:t>
            </a:r>
            <a:endParaRPr lang="en-US" sz="2200" dirty="0"/>
          </a:p>
        </p:txBody>
      </p:sp>
      <p:sp>
        <p:nvSpPr>
          <p:cNvPr id="25" name="Text 18"/>
          <p:cNvSpPr/>
          <p:nvPr/>
        </p:nvSpPr>
        <p:spPr>
          <a:xfrm>
            <a:off x="7589520" y="5166360"/>
            <a:ext cx="3794760" cy="914400"/>
          </a:xfrm>
          <a:prstGeom prst="rect">
            <a:avLst/>
          </a:prstGeom>
          <a:noFill/>
          <a:ln/>
        </p:spPr>
        <p:txBody>
          <a:bodyPr wrap="square" lIns="0" tIns="0" rIns="0" bIns="0" rtlCol="0" anchor="t"/>
          <a:lstStyle/>
          <a:p>
            <a:pPr marL="0" indent="0">
              <a:buNone/>
            </a:pPr>
            <a:r>
              <a:rPr lang="en-US" sz="1400" dirty="0">
                <a:solidFill>
                  <a:srgbClr val="5A7378"/>
                </a:solidFill>
                <a:latin typeface="Calibri" pitchFamily="34" charset="0"/>
                <a:ea typeface="Calibri" pitchFamily="34" charset="-122"/>
                <a:cs typeface="Calibri" pitchFamily="34" charset="-120"/>
              </a:rPr>
              <a:t>Tách code ra nhiều file — nền tảng tổ chức framework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502920" y="457200"/>
            <a:ext cx="658368" cy="658368"/>
          </a:xfrm>
          <a:prstGeom prst="ellipse">
            <a:avLst/>
          </a:prstGeom>
          <a:solidFill>
            <a:srgbClr val="028090"/>
          </a:solidFill>
          <a:ln/>
          <a:effectLst>
            <a:outerShdw blurRad="88900" dist="25400" dir="5400000" algn="bl" rotWithShape="0">
              <a:srgbClr val="000000">
                <a:alpha val="1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612648"/>
            <a:ext cx="347472" cy="347472"/>
          </a:xfrm>
          <a:prstGeom prst="rect">
            <a:avLst/>
          </a:prstGeom>
        </p:spPr>
      </p:pic>
      <p:sp>
        <p:nvSpPr>
          <p:cNvPr id="4" name="Text 1"/>
          <p:cNvSpPr/>
          <p:nvPr/>
        </p:nvSpPr>
        <p:spPr>
          <a:xfrm>
            <a:off x="1325880" y="457200"/>
            <a:ext cx="9601200" cy="658368"/>
          </a:xfrm>
          <a:prstGeom prst="rect">
            <a:avLst/>
          </a:prstGeom>
          <a:noFill/>
          <a:ln/>
        </p:spPr>
        <p:txBody>
          <a:bodyPr wrap="square" lIns="0" tIns="0" rIns="0" bIns="0" rtlCol="0" anchor="ctr"/>
          <a:lstStyle/>
          <a:p>
            <a:pPr marL="0" indent="0">
              <a:buNone/>
            </a:pPr>
            <a:r>
              <a:rPr lang="en-US" sz="2700" b="1" dirty="0">
                <a:solidFill>
                  <a:srgbClr val="12343B"/>
                </a:solidFill>
                <a:latin typeface="Calibri" pitchFamily="34" charset="0"/>
                <a:ea typeface="Calibri" pitchFamily="34" charset="-122"/>
                <a:cs typeface="Calibri" pitchFamily="34" charset="-120"/>
              </a:rPr>
              <a:t>Câu lệnh điều kiện là gì?</a:t>
            </a:r>
            <a:endParaRPr lang="en-US" sz="2700" dirty="0"/>
          </a:p>
        </p:txBody>
      </p:sp>
      <p:sp>
        <p:nvSpPr>
          <p:cNvPr id="5" name="Text 2"/>
          <p:cNvSpPr/>
          <p:nvPr/>
        </p:nvSpPr>
        <p:spPr>
          <a:xfrm>
            <a:off x="10241280" y="548640"/>
            <a:ext cx="1417320" cy="457200"/>
          </a:xfrm>
          <a:prstGeom prst="rect">
            <a:avLst/>
          </a:prstGeom>
          <a:noFill/>
          <a:ln/>
        </p:spPr>
        <p:txBody>
          <a:bodyPr wrap="square" rtlCol="0" anchor="ctr"/>
          <a:lstStyle/>
          <a:p>
            <a:pPr marL="0" indent="0" algn="r">
              <a:buNone/>
            </a:pPr>
            <a:r>
              <a:rPr lang="en-US" sz="1200" b="1" kern="0" spc="200" dirty="0">
                <a:solidFill>
                  <a:srgbClr val="00A896"/>
                </a:solidFill>
                <a:latin typeface="Calibri" pitchFamily="34" charset="0"/>
                <a:ea typeface="Calibri" pitchFamily="34" charset="-122"/>
                <a:cs typeface="Calibri" pitchFamily="34" charset="-120"/>
              </a:rPr>
              <a:t>BÀI 1</a:t>
            </a:r>
            <a:endParaRPr lang="en-US" sz="1200" dirty="0"/>
          </a:p>
        </p:txBody>
      </p:sp>
      <p:sp>
        <p:nvSpPr>
          <p:cNvPr id="6" name="Text 3"/>
          <p:cNvSpPr/>
          <p:nvPr/>
        </p:nvSpPr>
        <p:spPr>
          <a:xfrm>
            <a:off x="548640" y="1371600"/>
            <a:ext cx="11064240" cy="502920"/>
          </a:xfrm>
          <a:prstGeom prst="rect">
            <a:avLst/>
          </a:prstGeom>
          <a:noFill/>
          <a:ln/>
        </p:spPr>
        <p:txBody>
          <a:bodyPr wrap="square" rtlCol="0" anchor="ctr"/>
          <a:lstStyle/>
          <a:p>
            <a:pPr marL="0" indent="0">
              <a:buNone/>
            </a:pPr>
            <a:r>
              <a:rPr lang="en-US" sz="1500" b="1" dirty="0">
                <a:solidFill>
                  <a:srgbClr val="12343B"/>
                </a:solidFill>
                <a:latin typeface="Calibri" pitchFamily="34" charset="0"/>
                <a:ea typeface="Calibri" pitchFamily="34" charset="-122"/>
                <a:cs typeface="Calibri" pitchFamily="34" charset="-120"/>
              </a:rPr>
              <a:t>Câu lệnh điều kiện</a:t>
            </a:r>
            <a:r>
              <a:rPr lang="en-US" sz="1500" dirty="0">
                <a:solidFill>
                  <a:srgbClr val="5A7378"/>
                </a:solidFill>
                <a:latin typeface="Calibri" pitchFamily="34" charset="0"/>
                <a:ea typeface="Calibri" pitchFamily="34" charset="-122"/>
                <a:cs typeface="Calibri" pitchFamily="34" charset="-120"/>
              </a:rPr>
              <a:t> cho phép chương trình </a:t>
            </a:r>
            <a:r>
              <a:rPr lang="en-US" sz="1500" b="1" dirty="0">
                <a:solidFill>
                  <a:srgbClr val="028090"/>
                </a:solidFill>
                <a:latin typeface="Calibri" pitchFamily="34" charset="0"/>
                <a:ea typeface="Calibri" pitchFamily="34" charset="-122"/>
                <a:cs typeface="Calibri" pitchFamily="34" charset="-120"/>
              </a:rPr>
              <a:t>ra quyết định</a:t>
            </a:r>
            <a:r>
              <a:rPr lang="en-US" sz="1500" dirty="0">
                <a:solidFill>
                  <a:srgbClr val="5A7378"/>
                </a:solidFill>
                <a:latin typeface="Calibri" pitchFamily="34" charset="0"/>
                <a:ea typeface="Calibri" pitchFamily="34" charset="-122"/>
                <a:cs typeface="Calibri" pitchFamily="34" charset="-120"/>
              </a:rPr>
              <a:t>: chỉ chạy một đoạn code khi điều kiện đúng (</a:t>
            </a:r>
            <a:r>
              <a:rPr lang="en-US" sz="1500" b="1" dirty="0">
                <a:solidFill>
                  <a:srgbClr val="028090"/>
                </a:solidFill>
                <a:latin typeface="Calibri" pitchFamily="34" charset="0"/>
                <a:ea typeface="Calibri" pitchFamily="34" charset="-122"/>
                <a:cs typeface="Calibri" pitchFamily="34" charset="-120"/>
              </a:rPr>
              <a:t>true</a:t>
            </a:r>
            <a:r>
              <a:rPr lang="en-US" sz="1500" dirty="0">
                <a:solidFill>
                  <a:srgbClr val="5A7378"/>
                </a:solidFill>
                <a:latin typeface="Calibri" pitchFamily="34" charset="0"/>
                <a:ea typeface="Calibri" pitchFamily="34" charset="-122"/>
                <a:cs typeface="Calibri" pitchFamily="34" charset="-120"/>
              </a:rPr>
              <a:t>).</a:t>
            </a:r>
            <a:endParaRPr lang="en-US" sz="1500" dirty="0"/>
          </a:p>
        </p:txBody>
      </p:sp>
      <p:sp>
        <p:nvSpPr>
          <p:cNvPr id="7" name="Text 4"/>
          <p:cNvSpPr/>
          <p:nvPr/>
        </p:nvSpPr>
        <p:spPr>
          <a:xfrm>
            <a:off x="548640" y="2011680"/>
            <a:ext cx="5486400" cy="36576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if đơn — chỉ cần một nhánh</a:t>
            </a:r>
            <a:endParaRPr lang="en-US" sz="1500" dirty="0"/>
          </a:p>
        </p:txBody>
      </p:sp>
      <p:sp>
        <p:nvSpPr>
          <p:cNvPr id="8" name="Shape 5"/>
          <p:cNvSpPr/>
          <p:nvPr/>
        </p:nvSpPr>
        <p:spPr>
          <a:xfrm>
            <a:off x="548640" y="2423160"/>
            <a:ext cx="5532120" cy="2011680"/>
          </a:xfrm>
          <a:prstGeom prst="roundRect">
            <a:avLst>
              <a:gd name="adj" fmla="val 3636"/>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9" name="Text 6"/>
          <p:cNvSpPr/>
          <p:nvPr/>
        </p:nvSpPr>
        <p:spPr>
          <a:xfrm>
            <a:off x="749808" y="2569464"/>
            <a:ext cx="5129784" cy="1719072"/>
          </a:xfrm>
          <a:prstGeom prst="rect">
            <a:avLst/>
          </a:prstGeom>
          <a:noFill/>
          <a:ln/>
        </p:spPr>
        <p:txBody>
          <a:bodyPr wrap="square" lIns="0" tIns="0" rIns="0" bIns="0" rtlCol="0" anchor="t"/>
          <a:lstStyle/>
          <a:p>
            <a:pPr marL="0" indent="0" algn="l">
              <a:lnSpc>
                <a:spcPct val="112000"/>
              </a:lnSpc>
              <a:buNone/>
            </a:pPr>
            <a:r>
              <a:rPr lang="en-US" sz="1250" dirty="0">
                <a:solidFill>
                  <a:srgbClr val="9FE8DA"/>
                </a:solidFill>
                <a:latin typeface="Courier New" pitchFamily="34" charset="0"/>
                <a:ea typeface="Courier New" pitchFamily="34" charset="-122"/>
                <a:cs typeface="Courier New" pitchFamily="34" charset="-120"/>
              </a:rPr>
              <a:t>const amount = 500000;</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if (amount &gt; 0) {</a:t>
            </a:r>
            <a:endParaRPr lang="en-US" sz="1250" dirty="0"/>
          </a:p>
          <a:p>
            <a:pPr marL="0" indent="0" algn="l">
              <a:lnSpc>
                <a:spcPct val="112000"/>
              </a:lnSpc>
              <a:buNone/>
            </a:pPr>
            <a:r>
              <a:rPr lang="en-US" sz="1250" dirty="0">
                <a:solidFill>
                  <a:srgbClr val="D7E6E6"/>
                </a:solidFill>
                <a:latin typeface="Courier New" pitchFamily="34" charset="0"/>
                <a:ea typeface="Courier New" pitchFamily="34" charset="-122"/>
                <a:cs typeface="Courier New" pitchFamily="34" charset="-120"/>
              </a:rPr>
              <a:t>  console.log("Có phát sinh giao dịch");</a:t>
            </a: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a:t>
            </a:r>
            <a:endParaRPr lang="en-US" sz="1250" dirty="0"/>
          </a:p>
          <a:p>
            <a:pPr marL="0" indent="0" algn="l">
              <a:lnSpc>
                <a:spcPct val="112000"/>
              </a:lnSpc>
              <a:buNone/>
            </a:pPr>
            <a:r>
              <a:rPr lang="en-US" sz="1250" dirty="0">
                <a:solidFill>
                  <a:srgbClr val="7F9CA0"/>
                </a:solidFill>
                <a:latin typeface="Courier New" pitchFamily="34" charset="0"/>
                <a:ea typeface="Courier New" pitchFamily="34" charset="-122"/>
                <a:cs typeface="Courier New" pitchFamily="34" charset="-120"/>
              </a:rPr>
              <a:t>// điều kiện sai → bỏ qua, không chạy</a:t>
            </a:r>
            <a:endParaRPr lang="en-US" sz="1250" dirty="0"/>
          </a:p>
        </p:txBody>
      </p:sp>
      <p:sp>
        <p:nvSpPr>
          <p:cNvPr id="10" name="Text 7"/>
          <p:cNvSpPr/>
          <p:nvPr/>
        </p:nvSpPr>
        <p:spPr>
          <a:xfrm>
            <a:off x="548640" y="4572000"/>
            <a:ext cx="5532120" cy="457200"/>
          </a:xfrm>
          <a:prstGeom prst="rect">
            <a:avLst/>
          </a:prstGeom>
          <a:noFill/>
          <a:ln/>
        </p:spPr>
        <p:txBody>
          <a:bodyPr wrap="square" lIns="0" tIns="0" rIns="0" bIns="0" rtlCol="0" anchor="ctr"/>
          <a:lstStyle/>
          <a:p>
            <a:pPr marL="0" indent="0">
              <a:buNone/>
            </a:pPr>
            <a:r>
              <a:rPr lang="en-US" sz="1250" dirty="0">
                <a:solidFill>
                  <a:srgbClr val="5A7378"/>
                </a:solidFill>
                <a:latin typeface="Calibri" pitchFamily="34" charset="0"/>
                <a:ea typeface="Calibri" pitchFamily="34" charset="-122"/>
                <a:cs typeface="Calibri" pitchFamily="34" charset="-120"/>
              </a:rPr>
              <a:t>Không cần else: nếu điều kiện sai, khối lệnh đơn giản bị bỏ qua.</a:t>
            </a:r>
            <a:endParaRPr lang="en-US" sz="1250" dirty="0"/>
          </a:p>
        </p:txBody>
      </p:sp>
      <p:sp>
        <p:nvSpPr>
          <p:cNvPr id="11" name="Text 8"/>
          <p:cNvSpPr/>
          <p:nvPr/>
        </p:nvSpPr>
        <p:spPr>
          <a:xfrm>
            <a:off x="6355080" y="2011680"/>
            <a:ext cx="5486400" cy="365760"/>
          </a:xfrm>
          <a:prstGeom prst="rect">
            <a:avLst/>
          </a:prstGeom>
          <a:noFill/>
          <a:ln/>
        </p:spPr>
        <p:txBody>
          <a:bodyPr wrap="square"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Toán tử logic — kết hợp nhiều điều kiện</a:t>
            </a:r>
            <a:endParaRPr lang="en-US" sz="1500" dirty="0"/>
          </a:p>
        </p:txBody>
      </p:sp>
      <p:sp>
        <p:nvSpPr>
          <p:cNvPr id="12" name="Shape 9"/>
          <p:cNvSpPr/>
          <p:nvPr/>
        </p:nvSpPr>
        <p:spPr>
          <a:xfrm>
            <a:off x="6355080" y="2423160"/>
            <a:ext cx="5257800" cy="2011680"/>
          </a:xfrm>
          <a:prstGeom prst="roundRect">
            <a:avLst>
              <a:gd name="adj" fmla="val 3636"/>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13" name="Text 10"/>
          <p:cNvSpPr/>
          <p:nvPr/>
        </p:nvSpPr>
        <p:spPr>
          <a:xfrm>
            <a:off x="6556248" y="2569464"/>
            <a:ext cx="4855464" cy="1719072"/>
          </a:xfrm>
          <a:prstGeom prst="rect">
            <a:avLst/>
          </a:prstGeom>
          <a:noFill/>
          <a:ln/>
        </p:spPr>
        <p:txBody>
          <a:bodyPr wrap="square" lIns="0" tIns="0" rIns="0" bIns="0" rtlCol="0" anchor="t"/>
          <a:lstStyle/>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if (status === "SUCCESS"</a:t>
            </a: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    &amp;&amp; amount &gt; 0) { ... }</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if (status === "PENDING"</a:t>
            </a: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    || status === "FAILED") { ... }</a:t>
            </a:r>
            <a:endParaRPr lang="en-US" sz="1250" dirty="0"/>
          </a:p>
        </p:txBody>
      </p:sp>
      <p:sp>
        <p:nvSpPr>
          <p:cNvPr id="14" name="Shape 11"/>
          <p:cNvSpPr/>
          <p:nvPr/>
        </p:nvSpPr>
        <p:spPr>
          <a:xfrm>
            <a:off x="6355080" y="4617720"/>
            <a:ext cx="640080" cy="384048"/>
          </a:xfrm>
          <a:prstGeom prst="roundRect">
            <a:avLst>
              <a:gd name="adj" fmla="val 14286"/>
            </a:avLst>
          </a:prstGeom>
          <a:solidFill>
            <a:srgbClr val="10B981"/>
          </a:solidFill>
          <a:ln/>
        </p:spPr>
        <p:txBody>
          <a:bodyPr/>
          <a:lstStyle/>
          <a:p>
            <a:endParaRPr lang="en-US"/>
          </a:p>
        </p:txBody>
      </p:sp>
      <p:sp>
        <p:nvSpPr>
          <p:cNvPr id="15" name="Text 12"/>
          <p:cNvSpPr/>
          <p:nvPr/>
        </p:nvSpPr>
        <p:spPr>
          <a:xfrm>
            <a:off x="6355080" y="4617720"/>
            <a:ext cx="6400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&amp;&amp;</a:t>
            </a:r>
            <a:endParaRPr lang="en-US" sz="1400" dirty="0"/>
          </a:p>
        </p:txBody>
      </p:sp>
      <p:sp>
        <p:nvSpPr>
          <p:cNvPr id="16" name="Text 13"/>
          <p:cNvSpPr/>
          <p:nvPr/>
        </p:nvSpPr>
        <p:spPr>
          <a:xfrm>
            <a:off x="7132320" y="4617720"/>
            <a:ext cx="4480560" cy="384048"/>
          </a:xfrm>
          <a:prstGeom prst="rect">
            <a:avLst/>
          </a:prstGeom>
          <a:noFill/>
          <a:ln/>
        </p:spPr>
        <p:txBody>
          <a:bodyPr wrap="square" lIns="0" tIns="0" rIns="0" bIns="0" rtlCol="0" anchor="ctr"/>
          <a:lstStyle/>
          <a:p>
            <a:pPr marL="0" indent="0">
              <a:buNone/>
            </a:pPr>
            <a:r>
              <a:rPr lang="en-US" sz="1300" dirty="0">
                <a:solidFill>
                  <a:srgbClr val="12343B"/>
                </a:solidFill>
                <a:latin typeface="Calibri" pitchFamily="34" charset="0"/>
                <a:ea typeface="Calibri" pitchFamily="34" charset="-122"/>
                <a:cs typeface="Calibri" pitchFamily="34" charset="-120"/>
              </a:rPr>
              <a:t>VÀ — tất cả điều kiện đều đúng</a:t>
            </a:r>
            <a:endParaRPr lang="en-US" sz="1300" dirty="0"/>
          </a:p>
        </p:txBody>
      </p:sp>
      <p:sp>
        <p:nvSpPr>
          <p:cNvPr id="17" name="Shape 14"/>
          <p:cNvSpPr/>
          <p:nvPr/>
        </p:nvSpPr>
        <p:spPr>
          <a:xfrm>
            <a:off x="6355080" y="5120640"/>
            <a:ext cx="640080" cy="384048"/>
          </a:xfrm>
          <a:prstGeom prst="roundRect">
            <a:avLst>
              <a:gd name="adj" fmla="val 14286"/>
            </a:avLst>
          </a:prstGeom>
          <a:solidFill>
            <a:srgbClr val="F59E0B"/>
          </a:solidFill>
          <a:ln/>
        </p:spPr>
        <p:txBody>
          <a:bodyPr/>
          <a:lstStyle/>
          <a:p>
            <a:endParaRPr lang="en-US"/>
          </a:p>
        </p:txBody>
      </p:sp>
      <p:sp>
        <p:nvSpPr>
          <p:cNvPr id="18" name="Text 15"/>
          <p:cNvSpPr/>
          <p:nvPr/>
        </p:nvSpPr>
        <p:spPr>
          <a:xfrm>
            <a:off x="6355080" y="5120640"/>
            <a:ext cx="6400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9" name="Text 16"/>
          <p:cNvSpPr/>
          <p:nvPr/>
        </p:nvSpPr>
        <p:spPr>
          <a:xfrm>
            <a:off x="7132320" y="5120640"/>
            <a:ext cx="4480560" cy="384048"/>
          </a:xfrm>
          <a:prstGeom prst="rect">
            <a:avLst/>
          </a:prstGeom>
          <a:noFill/>
          <a:ln/>
        </p:spPr>
        <p:txBody>
          <a:bodyPr wrap="square" lIns="0" tIns="0" rIns="0" bIns="0" rtlCol="0" anchor="ctr"/>
          <a:lstStyle/>
          <a:p>
            <a:pPr marL="0" indent="0">
              <a:buNone/>
            </a:pPr>
            <a:r>
              <a:rPr lang="en-US" sz="1300" dirty="0">
                <a:solidFill>
                  <a:srgbClr val="12343B"/>
                </a:solidFill>
                <a:latin typeface="Calibri" pitchFamily="34" charset="0"/>
                <a:ea typeface="Calibri" pitchFamily="34" charset="-122"/>
                <a:cs typeface="Calibri" pitchFamily="34" charset="-120"/>
              </a:rPr>
              <a:t>HOẶC — chỉ cần một điều kiện đúng</a:t>
            </a:r>
            <a:endParaRPr lang="en-US" sz="1300" dirty="0"/>
          </a:p>
        </p:txBody>
      </p:sp>
      <p:sp>
        <p:nvSpPr>
          <p:cNvPr id="20" name="Shape 17"/>
          <p:cNvSpPr/>
          <p:nvPr/>
        </p:nvSpPr>
        <p:spPr>
          <a:xfrm>
            <a:off x="6355080" y="5623560"/>
            <a:ext cx="640080" cy="384048"/>
          </a:xfrm>
          <a:prstGeom prst="roundRect">
            <a:avLst>
              <a:gd name="adj" fmla="val 14286"/>
            </a:avLst>
          </a:prstGeom>
          <a:solidFill>
            <a:srgbClr val="028090"/>
          </a:solidFill>
          <a:ln/>
        </p:spPr>
        <p:txBody>
          <a:bodyPr/>
          <a:lstStyle/>
          <a:p>
            <a:endParaRPr lang="en-US"/>
          </a:p>
        </p:txBody>
      </p:sp>
      <p:sp>
        <p:nvSpPr>
          <p:cNvPr id="21" name="Text 18"/>
          <p:cNvSpPr/>
          <p:nvPr/>
        </p:nvSpPr>
        <p:spPr>
          <a:xfrm>
            <a:off x="6355080" y="5623560"/>
            <a:ext cx="6400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22" name="Text 19"/>
          <p:cNvSpPr/>
          <p:nvPr/>
        </p:nvSpPr>
        <p:spPr>
          <a:xfrm>
            <a:off x="7132320" y="5623560"/>
            <a:ext cx="4480560" cy="384048"/>
          </a:xfrm>
          <a:prstGeom prst="rect">
            <a:avLst/>
          </a:prstGeom>
          <a:noFill/>
          <a:ln/>
        </p:spPr>
        <p:txBody>
          <a:bodyPr wrap="square" lIns="0" tIns="0" rIns="0" bIns="0" rtlCol="0" anchor="ctr"/>
          <a:lstStyle/>
          <a:p>
            <a:pPr marL="0" indent="0">
              <a:buNone/>
            </a:pPr>
            <a:r>
              <a:rPr lang="en-US" sz="1300" dirty="0">
                <a:solidFill>
                  <a:srgbClr val="12343B"/>
                </a:solidFill>
                <a:latin typeface="Calibri" pitchFamily="34" charset="0"/>
                <a:ea typeface="Calibri" pitchFamily="34" charset="-122"/>
                <a:cs typeface="Calibri" pitchFamily="34" charset="-120"/>
              </a:rPr>
              <a:t>PHỦ ĐỊNH — đảo ngược true / false</a:t>
            </a:r>
            <a:endParaRPr lang="en-US" sz="1300" dirty="0"/>
          </a:p>
        </p:txBody>
      </p:sp>
      <p:sp>
        <p:nvSpPr>
          <p:cNvPr id="23" name="Shape 20"/>
          <p:cNvSpPr/>
          <p:nvPr/>
        </p:nvSpPr>
        <p:spPr>
          <a:xfrm>
            <a:off x="548640" y="5166360"/>
            <a:ext cx="5532120" cy="960120"/>
          </a:xfrm>
          <a:prstGeom prst="roundRect">
            <a:avLst>
              <a:gd name="adj" fmla="val 8571"/>
            </a:avLst>
          </a:prstGeom>
          <a:solidFill>
            <a:srgbClr val="E4F4F1"/>
          </a:solidFill>
          <a:ln/>
        </p:spPr>
        <p:txBody>
          <a:bodyPr/>
          <a:lstStyle/>
          <a:p>
            <a:endParaRPr lang="en-US"/>
          </a:p>
        </p:txBody>
      </p:sp>
      <p:sp>
        <p:nvSpPr>
          <p:cNvPr id="24" name="Text 21"/>
          <p:cNvSpPr/>
          <p:nvPr/>
        </p:nvSpPr>
        <p:spPr>
          <a:xfrm>
            <a:off x="777240" y="5166360"/>
            <a:ext cx="5074920" cy="960120"/>
          </a:xfrm>
          <a:prstGeom prst="rect">
            <a:avLst/>
          </a:prstGeom>
          <a:noFill/>
          <a:ln/>
        </p:spPr>
        <p:txBody>
          <a:bodyPr wrap="square" lIns="0" tIns="0" rIns="0" bIns="0"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Liên hệ QA:  </a:t>
            </a:r>
            <a:r>
              <a:rPr lang="en-US" sz="1300" dirty="0">
                <a:solidFill>
                  <a:srgbClr val="12343B"/>
                </a:solidFill>
                <a:latin typeface="Calibri" pitchFamily="34" charset="0"/>
                <a:ea typeface="Calibri" pitchFamily="34" charset="-122"/>
                <a:cs typeface="Calibri" pitchFamily="34" charset="-120"/>
              </a:rPr>
              <a:t>Mỗi bước assert trong test chính là một câu lệnh điều kiện — kiểm tra kết quả có đúng như mong đợi hay không.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502920" y="457200"/>
            <a:ext cx="658368" cy="658368"/>
          </a:xfrm>
          <a:prstGeom prst="ellipse">
            <a:avLst/>
          </a:prstGeom>
          <a:solidFill>
            <a:srgbClr val="028090"/>
          </a:solidFill>
          <a:ln/>
          <a:effectLst>
            <a:outerShdw blurRad="88900" dist="25400" dir="5400000" algn="bl" rotWithShape="0">
              <a:srgbClr val="000000">
                <a:alpha val="1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612648"/>
            <a:ext cx="347472" cy="347472"/>
          </a:xfrm>
          <a:prstGeom prst="rect">
            <a:avLst/>
          </a:prstGeom>
        </p:spPr>
      </p:pic>
      <p:sp>
        <p:nvSpPr>
          <p:cNvPr id="4" name="Text 1"/>
          <p:cNvSpPr/>
          <p:nvPr/>
        </p:nvSpPr>
        <p:spPr>
          <a:xfrm>
            <a:off x="1325880" y="457200"/>
            <a:ext cx="9601200" cy="658368"/>
          </a:xfrm>
          <a:prstGeom prst="rect">
            <a:avLst/>
          </a:prstGeom>
          <a:noFill/>
          <a:ln/>
        </p:spPr>
        <p:txBody>
          <a:bodyPr wrap="square" lIns="0" tIns="0" rIns="0" bIns="0" rtlCol="0" anchor="ctr"/>
          <a:lstStyle/>
          <a:p>
            <a:pPr marL="0" indent="0">
              <a:buNone/>
            </a:pPr>
            <a:r>
              <a:rPr lang="en-US" sz="2700" b="1" dirty="0">
                <a:solidFill>
                  <a:srgbClr val="12343B"/>
                </a:solidFill>
                <a:latin typeface="Calibri" pitchFamily="34" charset="0"/>
                <a:ea typeface="Calibri" pitchFamily="34" charset="-122"/>
                <a:cs typeface="Calibri" pitchFamily="34" charset="-120"/>
              </a:rPr>
              <a:t>Câu lệnh điều kiện if / else</a:t>
            </a:r>
            <a:endParaRPr lang="en-US" sz="2700" dirty="0"/>
          </a:p>
        </p:txBody>
      </p:sp>
      <p:sp>
        <p:nvSpPr>
          <p:cNvPr id="5" name="Text 2"/>
          <p:cNvSpPr/>
          <p:nvPr/>
        </p:nvSpPr>
        <p:spPr>
          <a:xfrm>
            <a:off x="10241280" y="548640"/>
            <a:ext cx="1417320" cy="457200"/>
          </a:xfrm>
          <a:prstGeom prst="rect">
            <a:avLst/>
          </a:prstGeom>
          <a:noFill/>
          <a:ln/>
        </p:spPr>
        <p:txBody>
          <a:bodyPr wrap="square" rtlCol="0" anchor="ctr"/>
          <a:lstStyle/>
          <a:p>
            <a:pPr marL="0" indent="0" algn="r">
              <a:buNone/>
            </a:pPr>
            <a:r>
              <a:rPr lang="en-US" sz="1200" b="1" kern="0" spc="200" dirty="0">
                <a:solidFill>
                  <a:srgbClr val="00A896"/>
                </a:solidFill>
                <a:latin typeface="Calibri" pitchFamily="34" charset="0"/>
                <a:ea typeface="Calibri" pitchFamily="34" charset="-122"/>
                <a:cs typeface="Calibri" pitchFamily="34" charset="-120"/>
              </a:rPr>
              <a:t>BÀI 1</a:t>
            </a:r>
            <a:endParaRPr lang="en-US" sz="1200" dirty="0"/>
          </a:p>
        </p:txBody>
      </p:sp>
      <p:sp>
        <p:nvSpPr>
          <p:cNvPr id="6" name="Text 3"/>
          <p:cNvSpPr/>
          <p:nvPr/>
        </p:nvSpPr>
        <p:spPr>
          <a:xfrm>
            <a:off x="548640" y="1371600"/>
            <a:ext cx="11064240" cy="548640"/>
          </a:xfrm>
          <a:prstGeom prst="rect">
            <a:avLst/>
          </a:prstGeom>
          <a:noFill/>
          <a:ln/>
        </p:spPr>
        <p:txBody>
          <a:bodyPr wrap="square" rtlCol="0" anchor="ctr"/>
          <a:lstStyle/>
          <a:p>
            <a:pPr marL="0" indent="0">
              <a:buNone/>
            </a:pPr>
            <a:r>
              <a:rPr lang="en-US" sz="1500" dirty="0">
                <a:solidFill>
                  <a:srgbClr val="5A7378"/>
                </a:solidFill>
                <a:latin typeface="Calibri" pitchFamily="34" charset="0"/>
                <a:ea typeface="Calibri" pitchFamily="34" charset="-122"/>
                <a:cs typeface="Calibri" pitchFamily="34" charset="-120"/>
              </a:rPr>
              <a:t>Trong kiểm thử bạn luôn phải ra quyết định: “Nếu trạng thái là SUCCESS thì… ngược lại thì…”. Đó chính là if / else.</a:t>
            </a:r>
            <a:endParaRPr lang="en-US" sz="1500" dirty="0"/>
          </a:p>
        </p:txBody>
      </p:sp>
      <p:sp>
        <p:nvSpPr>
          <p:cNvPr id="7" name="Shape 4"/>
          <p:cNvSpPr/>
          <p:nvPr/>
        </p:nvSpPr>
        <p:spPr>
          <a:xfrm>
            <a:off x="548640" y="2057400"/>
            <a:ext cx="5852160" cy="2331720"/>
          </a:xfrm>
          <a:prstGeom prst="roundRect">
            <a:avLst>
              <a:gd name="adj" fmla="val 3137"/>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8" name="Text 5"/>
          <p:cNvSpPr/>
          <p:nvPr/>
        </p:nvSpPr>
        <p:spPr>
          <a:xfrm>
            <a:off x="749808" y="2203704"/>
            <a:ext cx="5449824" cy="2039112"/>
          </a:xfrm>
          <a:prstGeom prst="rect">
            <a:avLst/>
          </a:prstGeom>
          <a:noFill/>
          <a:ln/>
        </p:spPr>
        <p:txBody>
          <a:bodyPr wrap="square" lIns="0" tIns="0" rIns="0" bIns="0" rtlCol="0" anchor="t"/>
          <a:lstStyle/>
          <a:p>
            <a:pPr marL="0" indent="0" algn="l">
              <a:lnSpc>
                <a:spcPct val="112000"/>
              </a:lnSpc>
              <a:buNone/>
            </a:pPr>
            <a:r>
              <a:rPr lang="en-US" sz="1350" dirty="0">
                <a:solidFill>
                  <a:srgbClr val="9FE8DA"/>
                </a:solidFill>
                <a:latin typeface="Courier New" pitchFamily="34" charset="0"/>
                <a:ea typeface="Courier New" pitchFamily="34" charset="-122"/>
                <a:cs typeface="Courier New" pitchFamily="34" charset="-120"/>
              </a:rPr>
              <a:t>const status = "SUCCESS";</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F5C97B"/>
                </a:solidFill>
                <a:latin typeface="Courier New" pitchFamily="34" charset="0"/>
                <a:ea typeface="Courier New" pitchFamily="34" charset="-122"/>
                <a:cs typeface="Courier New" pitchFamily="34" charset="-120"/>
              </a:rPr>
              <a:t>if (status === "SUCCESS") {</a:t>
            </a:r>
            <a:endParaRPr lang="en-US" sz="1350" dirty="0"/>
          </a:p>
          <a:p>
            <a:pPr marL="0" indent="0" algn="l">
              <a:lnSpc>
                <a:spcPct val="112000"/>
              </a:lnSpc>
              <a:buNone/>
            </a:pPr>
            <a:r>
              <a:rPr lang="en-US" sz="1350" dirty="0">
                <a:solidFill>
                  <a:srgbClr val="D7E6E6"/>
                </a:solidFill>
                <a:latin typeface="Courier New" pitchFamily="34" charset="0"/>
                <a:ea typeface="Courier New" pitchFamily="34" charset="-122"/>
                <a:cs typeface="Courier New" pitchFamily="34" charset="-120"/>
              </a:rPr>
              <a:t>  console.log("Giao dịch thành công");</a:t>
            </a:r>
            <a:endParaRPr lang="en-US" sz="1350" dirty="0"/>
          </a:p>
          <a:p>
            <a:pPr marL="0" indent="0" algn="l">
              <a:lnSpc>
                <a:spcPct val="112000"/>
              </a:lnSpc>
              <a:buNone/>
            </a:pPr>
            <a:r>
              <a:rPr lang="en-US" sz="1350" dirty="0">
                <a:solidFill>
                  <a:srgbClr val="F5C97B"/>
                </a:solidFill>
                <a:latin typeface="Courier New" pitchFamily="34" charset="0"/>
                <a:ea typeface="Courier New" pitchFamily="34" charset="-122"/>
                <a:cs typeface="Courier New" pitchFamily="34" charset="-120"/>
              </a:rPr>
              <a:t>} else {</a:t>
            </a:r>
            <a:endParaRPr lang="en-US" sz="1350" dirty="0"/>
          </a:p>
          <a:p>
            <a:pPr marL="0" indent="0" algn="l">
              <a:lnSpc>
                <a:spcPct val="112000"/>
              </a:lnSpc>
              <a:buNone/>
            </a:pPr>
            <a:r>
              <a:rPr lang="en-US" sz="1350" dirty="0">
                <a:solidFill>
                  <a:srgbClr val="D7E6E6"/>
                </a:solidFill>
                <a:latin typeface="Courier New" pitchFamily="34" charset="0"/>
                <a:ea typeface="Courier New" pitchFamily="34" charset="-122"/>
                <a:cs typeface="Courier New" pitchFamily="34" charset="-120"/>
              </a:rPr>
              <a:t>  console.log("Giao dịch chưa thành công");</a:t>
            </a:r>
            <a:endParaRPr lang="en-US" sz="1350" dirty="0"/>
          </a:p>
          <a:p>
            <a:pPr marL="0" indent="0" algn="l">
              <a:lnSpc>
                <a:spcPct val="112000"/>
              </a:lnSpc>
              <a:buNone/>
            </a:pPr>
            <a:r>
              <a:rPr lang="en-US" sz="1350" dirty="0">
                <a:solidFill>
                  <a:srgbClr val="F5C97B"/>
                </a:solidFill>
                <a:latin typeface="Courier New" pitchFamily="34" charset="0"/>
                <a:ea typeface="Courier New" pitchFamily="34" charset="-122"/>
                <a:cs typeface="Courier New" pitchFamily="34" charset="-120"/>
              </a:rPr>
              <a:t>}</a:t>
            </a:r>
            <a:endParaRPr lang="en-US" sz="1350" dirty="0"/>
          </a:p>
        </p:txBody>
      </p:sp>
      <p:sp>
        <p:nvSpPr>
          <p:cNvPr id="9" name="Text 6"/>
          <p:cNvSpPr/>
          <p:nvPr/>
        </p:nvSpPr>
        <p:spPr>
          <a:xfrm>
            <a:off x="6720840" y="2057400"/>
            <a:ext cx="4937760" cy="36576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Toán tử so sánh thường dùng</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720840" y="2468880"/>
          <a:ext cx="489204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8404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Toán tử</a:t>
                      </a:r>
                      <a:endParaRPr lang="en-US" sz="130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028090"/>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Ý nghĩa</a:t>
                      </a:r>
                      <a:endParaRPr lang="en-US" sz="130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1234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2343B"/>
                          </a:solidFill>
                          <a:latin typeface="Calibri" pitchFamily="34" charset="0"/>
                          <a:ea typeface="Calibri" pitchFamily="34" charset="-122"/>
                          <a:cs typeface="Calibri" pitchFamily="34" charset="-120"/>
                        </a:rPr>
                        <a:t>Bằng (so sánh cả kiểu)</a:t>
                      </a:r>
                      <a:endParaRPr lang="en-US" sz="130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1234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2343B"/>
                          </a:solidFill>
                          <a:latin typeface="Calibri" pitchFamily="34" charset="0"/>
                          <a:ea typeface="Calibri" pitchFamily="34" charset="-122"/>
                          <a:cs typeface="Calibri" pitchFamily="34" charset="-120"/>
                        </a:rPr>
                        <a:t>Khác</a:t>
                      </a:r>
                      <a:endParaRPr lang="en-US" sz="130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12343B"/>
                          </a:solidFill>
                          <a:latin typeface="Calibri" pitchFamily="34" charset="0"/>
                          <a:ea typeface="Calibri" pitchFamily="34" charset="-122"/>
                          <a:cs typeface="Calibri" pitchFamily="34" charset="-120"/>
                        </a:rPr>
                        <a:t>&gt; &lt;</a:t>
                      </a:r>
                      <a:endParaRPr lang="en-US" sz="130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2343B"/>
                          </a:solidFill>
                          <a:latin typeface="Calibri" pitchFamily="34" charset="0"/>
                          <a:ea typeface="Calibri" pitchFamily="34" charset="-122"/>
                          <a:cs typeface="Calibri" pitchFamily="34" charset="-120"/>
                        </a:rPr>
                        <a:t>Lớn hơn / nhỏ hơn</a:t>
                      </a:r>
                      <a:endParaRPr lang="en-US" sz="130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rgbClr val="12343B"/>
                          </a:solidFill>
                          <a:latin typeface="Calibri" pitchFamily="34" charset="0"/>
                          <a:ea typeface="Calibri" pitchFamily="34" charset="-122"/>
                          <a:cs typeface="Calibri" pitchFamily="34" charset="-120"/>
                        </a:rPr>
                        <a:t>&gt;= &lt;=</a:t>
                      </a:r>
                      <a:endParaRPr lang="en-US" sz="130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2343B"/>
                          </a:solidFill>
                          <a:latin typeface="Calibri" pitchFamily="34" charset="0"/>
                          <a:ea typeface="Calibri" pitchFamily="34" charset="-122"/>
                          <a:cs typeface="Calibri" pitchFamily="34" charset="-120"/>
                        </a:rPr>
                        <a:t>Lớn/nhỏ hơn hoặc bằng</a:t>
                      </a:r>
                      <a:endParaRPr lang="en-US" sz="130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 name="Shape 7"/>
          <p:cNvSpPr/>
          <p:nvPr/>
        </p:nvSpPr>
        <p:spPr>
          <a:xfrm>
            <a:off x="548640" y="4709160"/>
            <a:ext cx="11064240" cy="1417320"/>
          </a:xfrm>
          <a:prstGeom prst="roundRect">
            <a:avLst>
              <a:gd name="adj" fmla="val 5806"/>
            </a:avLst>
          </a:prstGeom>
          <a:solidFill>
            <a:srgbClr val="E4F4F1"/>
          </a:solidFill>
          <a:ln/>
        </p:spPr>
        <p:txBody>
          <a:bodyPr/>
          <a:lstStyle/>
          <a:p>
            <a:endParaRPr lang="en-US"/>
          </a:p>
        </p:txBody>
      </p:sp>
      <p:sp>
        <p:nvSpPr>
          <p:cNvPr id="12" name="Shape 8"/>
          <p:cNvSpPr/>
          <p:nvPr/>
        </p:nvSpPr>
        <p:spPr>
          <a:xfrm>
            <a:off x="822960" y="5029200"/>
            <a:ext cx="685800" cy="685800"/>
          </a:xfrm>
          <a:prstGeom prst="ellipse">
            <a:avLst/>
          </a:prstGeom>
          <a:solidFill>
            <a:srgbClr val="00A896"/>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996696" y="5202936"/>
            <a:ext cx="338328" cy="338328"/>
          </a:xfrm>
          <a:prstGeom prst="rect">
            <a:avLst/>
          </a:prstGeom>
        </p:spPr>
      </p:pic>
      <p:sp>
        <p:nvSpPr>
          <p:cNvPr id="14" name="Text 9"/>
          <p:cNvSpPr/>
          <p:nvPr/>
        </p:nvSpPr>
        <p:spPr>
          <a:xfrm>
            <a:off x="1737360" y="4709160"/>
            <a:ext cx="9601200" cy="1417320"/>
          </a:xfrm>
          <a:prstGeom prst="rect">
            <a:avLst/>
          </a:prstGeom>
          <a:noFill/>
          <a:ln/>
        </p:spPr>
        <p:txBody>
          <a:bodyPr wrap="square" lIns="0" tIns="0" rIns="0" bIns="0"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Liên hệ QA:  </a:t>
            </a:r>
            <a:r>
              <a:rPr lang="en-US" sz="1400" dirty="0">
                <a:solidFill>
                  <a:srgbClr val="12343B"/>
                </a:solidFill>
                <a:latin typeface="Calibri" pitchFamily="34" charset="0"/>
                <a:ea typeface="Calibri" pitchFamily="34" charset="-122"/>
                <a:cs typeface="Calibri" pitchFamily="34" charset="-120"/>
              </a:rPr>
              <a:t>Đây chính là logic bạn viết khi assert kết quả kiểm thử — kiểm tra điều kiện, đúng thì pass, sai thì fail.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502920" y="457200"/>
            <a:ext cx="658368" cy="658368"/>
          </a:xfrm>
          <a:prstGeom prst="ellipse">
            <a:avLst/>
          </a:prstGeom>
          <a:solidFill>
            <a:srgbClr val="028090"/>
          </a:solidFill>
          <a:ln/>
          <a:effectLst>
            <a:outerShdw blurRad="88900" dist="25400" dir="5400000" algn="bl" rotWithShape="0">
              <a:srgbClr val="000000">
                <a:alpha val="1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612648"/>
            <a:ext cx="347472" cy="347472"/>
          </a:xfrm>
          <a:prstGeom prst="rect">
            <a:avLst/>
          </a:prstGeom>
        </p:spPr>
      </p:pic>
      <p:sp>
        <p:nvSpPr>
          <p:cNvPr id="4" name="Text 1"/>
          <p:cNvSpPr/>
          <p:nvPr/>
        </p:nvSpPr>
        <p:spPr>
          <a:xfrm>
            <a:off x="1325880" y="457200"/>
            <a:ext cx="9601200" cy="658368"/>
          </a:xfrm>
          <a:prstGeom prst="rect">
            <a:avLst/>
          </a:prstGeom>
          <a:noFill/>
          <a:ln/>
        </p:spPr>
        <p:txBody>
          <a:bodyPr wrap="square" lIns="0" tIns="0" rIns="0" bIns="0" rtlCol="0" anchor="ctr"/>
          <a:lstStyle/>
          <a:p>
            <a:pPr marL="0" indent="0">
              <a:buNone/>
            </a:pPr>
            <a:r>
              <a:rPr lang="en-US" sz="2700" b="1" dirty="0">
                <a:solidFill>
                  <a:srgbClr val="12343B"/>
                </a:solidFill>
                <a:latin typeface="Calibri" pitchFamily="34" charset="0"/>
                <a:ea typeface="Calibri" pitchFamily="34" charset="-122"/>
                <a:cs typeface="Calibri" pitchFamily="34" charset="-120"/>
              </a:rPr>
              <a:t>if / else if / else — nhiều nhánh</a:t>
            </a:r>
            <a:endParaRPr lang="en-US" sz="2700" dirty="0"/>
          </a:p>
        </p:txBody>
      </p:sp>
      <p:sp>
        <p:nvSpPr>
          <p:cNvPr id="5" name="Text 2"/>
          <p:cNvSpPr/>
          <p:nvPr/>
        </p:nvSpPr>
        <p:spPr>
          <a:xfrm>
            <a:off x="10241280" y="548640"/>
            <a:ext cx="1417320" cy="457200"/>
          </a:xfrm>
          <a:prstGeom prst="rect">
            <a:avLst/>
          </a:prstGeom>
          <a:noFill/>
          <a:ln/>
        </p:spPr>
        <p:txBody>
          <a:bodyPr wrap="square" rtlCol="0" anchor="ctr"/>
          <a:lstStyle/>
          <a:p>
            <a:pPr marL="0" indent="0" algn="r">
              <a:buNone/>
            </a:pPr>
            <a:r>
              <a:rPr lang="en-US" sz="1200" b="1" kern="0" spc="200" dirty="0">
                <a:solidFill>
                  <a:srgbClr val="00A896"/>
                </a:solidFill>
                <a:latin typeface="Calibri" pitchFamily="34" charset="0"/>
                <a:ea typeface="Calibri" pitchFamily="34" charset="-122"/>
                <a:cs typeface="Calibri" pitchFamily="34" charset="-120"/>
              </a:rPr>
              <a:t>BÀI 1</a:t>
            </a:r>
            <a:endParaRPr lang="en-US" sz="1200" dirty="0"/>
          </a:p>
        </p:txBody>
      </p:sp>
      <p:sp>
        <p:nvSpPr>
          <p:cNvPr id="6" name="Text 3"/>
          <p:cNvSpPr/>
          <p:nvPr/>
        </p:nvSpPr>
        <p:spPr>
          <a:xfrm>
            <a:off x="548640" y="1371600"/>
            <a:ext cx="11064240" cy="502920"/>
          </a:xfrm>
          <a:prstGeom prst="rect">
            <a:avLst/>
          </a:prstGeom>
          <a:noFill/>
          <a:ln/>
        </p:spPr>
        <p:txBody>
          <a:bodyPr wrap="square" rtlCol="0" anchor="ctr"/>
          <a:lstStyle/>
          <a:p>
            <a:pPr marL="0" indent="0">
              <a:buNone/>
            </a:pPr>
            <a:r>
              <a:rPr lang="en-US" sz="1500" dirty="0">
                <a:solidFill>
                  <a:srgbClr val="5A7378"/>
                </a:solidFill>
                <a:latin typeface="Calibri" pitchFamily="34" charset="0"/>
                <a:ea typeface="Calibri" pitchFamily="34" charset="-122"/>
                <a:cs typeface="Calibri" pitchFamily="34" charset="-120"/>
              </a:rPr>
              <a:t>Khi có nhiều hơn hai khả năng, dùng else if để rẽ thành nhiều nhánh — ví dụ phân loại giao dịch theo giá trị.</a:t>
            </a:r>
            <a:endParaRPr lang="en-US" sz="1500" dirty="0"/>
          </a:p>
        </p:txBody>
      </p:sp>
      <p:sp>
        <p:nvSpPr>
          <p:cNvPr id="7" name="Shape 4"/>
          <p:cNvSpPr/>
          <p:nvPr/>
        </p:nvSpPr>
        <p:spPr>
          <a:xfrm>
            <a:off x="548640" y="1965960"/>
            <a:ext cx="6172200" cy="2788920"/>
          </a:xfrm>
          <a:prstGeom prst="roundRect">
            <a:avLst>
              <a:gd name="adj" fmla="val 2623"/>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8" name="Text 5"/>
          <p:cNvSpPr/>
          <p:nvPr/>
        </p:nvSpPr>
        <p:spPr>
          <a:xfrm>
            <a:off x="749808" y="2112264"/>
            <a:ext cx="5769864" cy="2496312"/>
          </a:xfrm>
          <a:prstGeom prst="rect">
            <a:avLst/>
          </a:prstGeom>
          <a:noFill/>
          <a:ln/>
        </p:spPr>
        <p:txBody>
          <a:bodyPr wrap="square" lIns="0" tIns="0" rIns="0" bIns="0" rtlCol="0" anchor="t"/>
          <a:lstStyle/>
          <a:p>
            <a:pPr marL="0" indent="0" algn="l">
              <a:lnSpc>
                <a:spcPct val="112000"/>
              </a:lnSpc>
              <a:buNone/>
            </a:pPr>
            <a:r>
              <a:rPr lang="en-US" sz="1300" dirty="0">
                <a:solidFill>
                  <a:srgbClr val="9FE8DA"/>
                </a:solidFill>
                <a:latin typeface="Courier New" pitchFamily="34" charset="0"/>
                <a:ea typeface="Courier New" pitchFamily="34" charset="-122"/>
                <a:cs typeface="Courier New" pitchFamily="34" charset="-120"/>
              </a:rPr>
              <a:t>const amount = 1500000;</a:t>
            </a:r>
            <a:endParaRPr lang="en-US" sz="1300" dirty="0"/>
          </a:p>
          <a:p>
            <a:pPr marL="0" indent="0" algn="l">
              <a:lnSpc>
                <a:spcPct val="112000"/>
              </a:lnSpc>
              <a:buNone/>
            </a:pPr>
            <a:endParaRPr lang="en-US" sz="1300" dirty="0"/>
          </a:p>
          <a:p>
            <a:pPr marL="0" indent="0" algn="l">
              <a:lnSpc>
                <a:spcPct val="112000"/>
              </a:lnSpc>
              <a:buNone/>
            </a:pPr>
            <a:r>
              <a:rPr lang="en-US" sz="1300" dirty="0">
                <a:solidFill>
                  <a:srgbClr val="F5C97B"/>
                </a:solidFill>
                <a:latin typeface="Courier New" pitchFamily="34" charset="0"/>
                <a:ea typeface="Courier New" pitchFamily="34" charset="-122"/>
                <a:cs typeface="Courier New" pitchFamily="34" charset="-120"/>
              </a:rPr>
              <a:t>if (amount &gt;= 1000000) {</a:t>
            </a:r>
            <a:endParaRPr lang="en-US" sz="1300" dirty="0"/>
          </a:p>
          <a:p>
            <a:pPr marL="0" indent="0" algn="l">
              <a:lnSpc>
                <a:spcPct val="112000"/>
              </a:lnSpc>
              <a:buNone/>
            </a:pPr>
            <a:r>
              <a:rPr lang="en-US" sz="1300" dirty="0">
                <a:solidFill>
                  <a:srgbClr val="D7E6E6"/>
                </a:solidFill>
                <a:latin typeface="Courier New" pitchFamily="34" charset="0"/>
                <a:ea typeface="Courier New" pitchFamily="34" charset="-122"/>
                <a:cs typeface="Courier New" pitchFamily="34" charset="-120"/>
              </a:rPr>
              <a:t>  console.log("Giao dịch giá trị lớn");</a:t>
            </a:r>
            <a:endParaRPr lang="en-US" sz="1300" dirty="0"/>
          </a:p>
          <a:p>
            <a:pPr marL="0" indent="0" algn="l">
              <a:lnSpc>
                <a:spcPct val="112000"/>
              </a:lnSpc>
              <a:buNone/>
            </a:pPr>
            <a:r>
              <a:rPr lang="en-US" sz="1300" dirty="0">
                <a:solidFill>
                  <a:srgbClr val="F5C97B"/>
                </a:solidFill>
                <a:latin typeface="Courier New" pitchFamily="34" charset="0"/>
                <a:ea typeface="Courier New" pitchFamily="34" charset="-122"/>
                <a:cs typeface="Courier New" pitchFamily="34" charset="-120"/>
              </a:rPr>
              <a:t>} else if (amount &gt;= 100000) {</a:t>
            </a:r>
            <a:endParaRPr lang="en-US" sz="1300" dirty="0"/>
          </a:p>
          <a:p>
            <a:pPr marL="0" indent="0" algn="l">
              <a:lnSpc>
                <a:spcPct val="112000"/>
              </a:lnSpc>
              <a:buNone/>
            </a:pPr>
            <a:r>
              <a:rPr lang="en-US" sz="1300" dirty="0">
                <a:solidFill>
                  <a:srgbClr val="D7E6E6"/>
                </a:solidFill>
                <a:latin typeface="Courier New" pitchFamily="34" charset="0"/>
                <a:ea typeface="Courier New" pitchFamily="34" charset="-122"/>
                <a:cs typeface="Courier New" pitchFamily="34" charset="-120"/>
              </a:rPr>
              <a:t>  console.log("Giao dịch giá trị trung bình");</a:t>
            </a:r>
            <a:endParaRPr lang="en-US" sz="1300" dirty="0"/>
          </a:p>
          <a:p>
            <a:pPr marL="0" indent="0" algn="l">
              <a:lnSpc>
                <a:spcPct val="112000"/>
              </a:lnSpc>
              <a:buNone/>
            </a:pPr>
            <a:r>
              <a:rPr lang="en-US" sz="1300" dirty="0">
                <a:solidFill>
                  <a:srgbClr val="F5C97B"/>
                </a:solidFill>
                <a:latin typeface="Courier New" pitchFamily="34" charset="0"/>
                <a:ea typeface="Courier New" pitchFamily="34" charset="-122"/>
                <a:cs typeface="Courier New" pitchFamily="34" charset="-120"/>
              </a:rPr>
              <a:t>} else {</a:t>
            </a:r>
            <a:endParaRPr lang="en-US" sz="1300" dirty="0"/>
          </a:p>
          <a:p>
            <a:pPr marL="0" indent="0" algn="l">
              <a:lnSpc>
                <a:spcPct val="112000"/>
              </a:lnSpc>
              <a:buNone/>
            </a:pPr>
            <a:r>
              <a:rPr lang="en-US" sz="1300" dirty="0">
                <a:solidFill>
                  <a:srgbClr val="D7E6E6"/>
                </a:solidFill>
                <a:latin typeface="Courier New" pitchFamily="34" charset="0"/>
                <a:ea typeface="Courier New" pitchFamily="34" charset="-122"/>
                <a:cs typeface="Courier New" pitchFamily="34" charset="-120"/>
              </a:rPr>
              <a:t>  console.log("Giao dịch giá trị nhỏ");</a:t>
            </a:r>
            <a:endParaRPr lang="en-US" sz="1300" dirty="0"/>
          </a:p>
          <a:p>
            <a:pPr marL="0" indent="0" algn="l">
              <a:lnSpc>
                <a:spcPct val="112000"/>
              </a:lnSpc>
              <a:buNone/>
            </a:pPr>
            <a:r>
              <a:rPr lang="en-US" sz="1300" dirty="0">
                <a:solidFill>
                  <a:srgbClr val="F5C97B"/>
                </a:solidFill>
                <a:latin typeface="Courier New" pitchFamily="34" charset="0"/>
                <a:ea typeface="Courier New" pitchFamily="34" charset="-122"/>
                <a:cs typeface="Courier New" pitchFamily="34" charset="-120"/>
              </a:rPr>
              <a:t>}</a:t>
            </a:r>
            <a:endParaRPr lang="en-US" sz="1300" dirty="0"/>
          </a:p>
        </p:txBody>
      </p:sp>
      <p:sp>
        <p:nvSpPr>
          <p:cNvPr id="9" name="Text 6"/>
          <p:cNvSpPr/>
          <p:nvPr/>
        </p:nvSpPr>
        <p:spPr>
          <a:xfrm>
            <a:off x="6995160" y="1965960"/>
            <a:ext cx="4663440" cy="36576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Luồng rẽ nhánh theo amount</a:t>
            </a:r>
            <a:endParaRPr lang="en-US" sz="1500" dirty="0"/>
          </a:p>
        </p:txBody>
      </p:sp>
      <p:sp>
        <p:nvSpPr>
          <p:cNvPr id="10" name="Shape 7"/>
          <p:cNvSpPr/>
          <p:nvPr/>
        </p:nvSpPr>
        <p:spPr>
          <a:xfrm>
            <a:off x="6995160" y="2395728"/>
            <a:ext cx="4617720" cy="658368"/>
          </a:xfrm>
          <a:prstGeom prst="roundRect">
            <a:avLst>
              <a:gd name="adj" fmla="val 9722"/>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11" name="Shape 8"/>
          <p:cNvSpPr/>
          <p:nvPr/>
        </p:nvSpPr>
        <p:spPr>
          <a:xfrm>
            <a:off x="7178040" y="2633472"/>
            <a:ext cx="182880" cy="182880"/>
          </a:xfrm>
          <a:prstGeom prst="ellipse">
            <a:avLst/>
          </a:prstGeom>
          <a:solidFill>
            <a:srgbClr val="10B981"/>
          </a:solidFill>
          <a:ln/>
        </p:spPr>
        <p:txBody>
          <a:bodyPr/>
          <a:lstStyle/>
          <a:p>
            <a:endParaRPr lang="en-US"/>
          </a:p>
        </p:txBody>
      </p:sp>
      <p:sp>
        <p:nvSpPr>
          <p:cNvPr id="12" name="Text 9"/>
          <p:cNvSpPr/>
          <p:nvPr/>
        </p:nvSpPr>
        <p:spPr>
          <a:xfrm>
            <a:off x="7543800" y="2450592"/>
            <a:ext cx="3931920" cy="292608"/>
          </a:xfrm>
          <a:prstGeom prst="rect">
            <a:avLst/>
          </a:prstGeom>
          <a:noFill/>
          <a:ln/>
        </p:spPr>
        <p:txBody>
          <a:bodyPr wrap="square" lIns="0" tIns="0" rIns="0" bIns="0" rtlCol="0" anchor="ctr"/>
          <a:lstStyle/>
          <a:p>
            <a:pPr marL="0" indent="0">
              <a:buNone/>
            </a:pPr>
            <a:r>
              <a:rPr lang="en-US" sz="1200" dirty="0">
                <a:solidFill>
                  <a:srgbClr val="5A7378"/>
                </a:solidFill>
                <a:latin typeface="Courier New" pitchFamily="34" charset="0"/>
                <a:ea typeface="Courier New" pitchFamily="34" charset="-122"/>
                <a:cs typeface="Courier New" pitchFamily="34" charset="-120"/>
              </a:rPr>
              <a:t>amount ≥ 1.000.000</a:t>
            </a:r>
            <a:endParaRPr lang="en-US" sz="1200" dirty="0"/>
          </a:p>
        </p:txBody>
      </p:sp>
      <p:sp>
        <p:nvSpPr>
          <p:cNvPr id="13" name="Text 10"/>
          <p:cNvSpPr/>
          <p:nvPr/>
        </p:nvSpPr>
        <p:spPr>
          <a:xfrm>
            <a:off x="7543800" y="2724912"/>
            <a:ext cx="3931920" cy="292608"/>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Giá trị lớn</a:t>
            </a:r>
            <a:endParaRPr lang="en-US" sz="1400" dirty="0"/>
          </a:p>
        </p:txBody>
      </p:sp>
      <p:sp>
        <p:nvSpPr>
          <p:cNvPr id="14" name="Shape 11"/>
          <p:cNvSpPr/>
          <p:nvPr/>
        </p:nvSpPr>
        <p:spPr>
          <a:xfrm>
            <a:off x="6995160" y="3191256"/>
            <a:ext cx="4617720" cy="658368"/>
          </a:xfrm>
          <a:prstGeom prst="roundRect">
            <a:avLst>
              <a:gd name="adj" fmla="val 9722"/>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15" name="Shape 12"/>
          <p:cNvSpPr/>
          <p:nvPr/>
        </p:nvSpPr>
        <p:spPr>
          <a:xfrm>
            <a:off x="7178040" y="3429000"/>
            <a:ext cx="182880" cy="182880"/>
          </a:xfrm>
          <a:prstGeom prst="ellipse">
            <a:avLst/>
          </a:prstGeom>
          <a:solidFill>
            <a:srgbClr val="F59E0B"/>
          </a:solidFill>
          <a:ln/>
        </p:spPr>
        <p:txBody>
          <a:bodyPr/>
          <a:lstStyle/>
          <a:p>
            <a:endParaRPr lang="en-US"/>
          </a:p>
        </p:txBody>
      </p:sp>
      <p:sp>
        <p:nvSpPr>
          <p:cNvPr id="16" name="Text 13"/>
          <p:cNvSpPr/>
          <p:nvPr/>
        </p:nvSpPr>
        <p:spPr>
          <a:xfrm>
            <a:off x="7543800" y="3246120"/>
            <a:ext cx="3931920" cy="292608"/>
          </a:xfrm>
          <a:prstGeom prst="rect">
            <a:avLst/>
          </a:prstGeom>
          <a:noFill/>
          <a:ln/>
        </p:spPr>
        <p:txBody>
          <a:bodyPr wrap="square" lIns="0" tIns="0" rIns="0" bIns="0" rtlCol="0" anchor="ctr"/>
          <a:lstStyle/>
          <a:p>
            <a:pPr marL="0" indent="0">
              <a:buNone/>
            </a:pPr>
            <a:r>
              <a:rPr lang="en-US" sz="1200" dirty="0">
                <a:solidFill>
                  <a:srgbClr val="5A7378"/>
                </a:solidFill>
                <a:latin typeface="Courier New" pitchFamily="34" charset="0"/>
                <a:ea typeface="Courier New" pitchFamily="34" charset="-122"/>
                <a:cs typeface="Courier New" pitchFamily="34" charset="-120"/>
              </a:rPr>
              <a:t>≥ 100.000 và &lt; 1.000.000</a:t>
            </a:r>
            <a:endParaRPr lang="en-US" sz="1200" dirty="0"/>
          </a:p>
        </p:txBody>
      </p:sp>
      <p:sp>
        <p:nvSpPr>
          <p:cNvPr id="17" name="Text 14"/>
          <p:cNvSpPr/>
          <p:nvPr/>
        </p:nvSpPr>
        <p:spPr>
          <a:xfrm>
            <a:off x="7543800" y="3520440"/>
            <a:ext cx="3931920" cy="292608"/>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Giá trị trung bình</a:t>
            </a:r>
            <a:endParaRPr lang="en-US" sz="1400" dirty="0"/>
          </a:p>
        </p:txBody>
      </p:sp>
      <p:sp>
        <p:nvSpPr>
          <p:cNvPr id="18" name="Shape 15"/>
          <p:cNvSpPr/>
          <p:nvPr/>
        </p:nvSpPr>
        <p:spPr>
          <a:xfrm>
            <a:off x="6995160" y="3986784"/>
            <a:ext cx="4617720" cy="658368"/>
          </a:xfrm>
          <a:prstGeom prst="roundRect">
            <a:avLst>
              <a:gd name="adj" fmla="val 9722"/>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19" name="Shape 16"/>
          <p:cNvSpPr/>
          <p:nvPr/>
        </p:nvSpPr>
        <p:spPr>
          <a:xfrm>
            <a:off x="7178040" y="4224528"/>
            <a:ext cx="182880" cy="182880"/>
          </a:xfrm>
          <a:prstGeom prst="ellipse">
            <a:avLst/>
          </a:prstGeom>
          <a:solidFill>
            <a:srgbClr val="028090"/>
          </a:solidFill>
          <a:ln/>
        </p:spPr>
        <p:txBody>
          <a:bodyPr/>
          <a:lstStyle/>
          <a:p>
            <a:endParaRPr lang="en-US"/>
          </a:p>
        </p:txBody>
      </p:sp>
      <p:sp>
        <p:nvSpPr>
          <p:cNvPr id="20" name="Text 17"/>
          <p:cNvSpPr/>
          <p:nvPr/>
        </p:nvSpPr>
        <p:spPr>
          <a:xfrm>
            <a:off x="7543800" y="4041648"/>
            <a:ext cx="3931920" cy="292608"/>
          </a:xfrm>
          <a:prstGeom prst="rect">
            <a:avLst/>
          </a:prstGeom>
          <a:noFill/>
          <a:ln/>
        </p:spPr>
        <p:txBody>
          <a:bodyPr wrap="square" lIns="0" tIns="0" rIns="0" bIns="0" rtlCol="0" anchor="ctr"/>
          <a:lstStyle/>
          <a:p>
            <a:pPr marL="0" indent="0">
              <a:buNone/>
            </a:pPr>
            <a:r>
              <a:rPr lang="en-US" sz="1200" dirty="0">
                <a:solidFill>
                  <a:srgbClr val="5A7378"/>
                </a:solidFill>
                <a:latin typeface="Courier New" pitchFamily="34" charset="0"/>
                <a:ea typeface="Courier New" pitchFamily="34" charset="-122"/>
                <a:cs typeface="Courier New" pitchFamily="34" charset="-120"/>
              </a:rPr>
              <a:t>còn lại (&lt; 100.000)</a:t>
            </a:r>
            <a:endParaRPr lang="en-US" sz="1200" dirty="0"/>
          </a:p>
        </p:txBody>
      </p:sp>
      <p:sp>
        <p:nvSpPr>
          <p:cNvPr id="21" name="Text 18"/>
          <p:cNvSpPr/>
          <p:nvPr/>
        </p:nvSpPr>
        <p:spPr>
          <a:xfrm>
            <a:off x="7543800" y="4315968"/>
            <a:ext cx="3931920" cy="292608"/>
          </a:xfrm>
          <a:prstGeom prst="rect">
            <a:avLst/>
          </a:prstGeom>
          <a:noFill/>
          <a:ln/>
        </p:spPr>
        <p:txBody>
          <a:bodyPr wrap="square" lIns="0" tIns="0" rIns="0" bIns="0"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Giá trị nhỏ</a:t>
            </a:r>
            <a:endParaRPr lang="en-US" sz="1400" dirty="0"/>
          </a:p>
        </p:txBody>
      </p:sp>
      <p:sp>
        <p:nvSpPr>
          <p:cNvPr id="22" name="Shape 19"/>
          <p:cNvSpPr/>
          <p:nvPr/>
        </p:nvSpPr>
        <p:spPr>
          <a:xfrm>
            <a:off x="548640" y="5029200"/>
            <a:ext cx="11064240" cy="1097280"/>
          </a:xfrm>
          <a:prstGeom prst="roundRect">
            <a:avLst>
              <a:gd name="adj" fmla="val 7500"/>
            </a:avLst>
          </a:prstGeom>
          <a:solidFill>
            <a:srgbClr val="FFF6E5"/>
          </a:solidFill>
          <a:ln/>
        </p:spPr>
        <p:txBody>
          <a:bodyPr/>
          <a:lstStyle/>
          <a:p>
            <a:endParaRPr lang="en-US"/>
          </a:p>
        </p:txBody>
      </p:sp>
      <p:sp>
        <p:nvSpPr>
          <p:cNvPr id="23" name="Shape 20"/>
          <p:cNvSpPr/>
          <p:nvPr/>
        </p:nvSpPr>
        <p:spPr>
          <a:xfrm>
            <a:off x="822960" y="5257800"/>
            <a:ext cx="621792" cy="621792"/>
          </a:xfrm>
          <a:prstGeom prst="ellipse">
            <a:avLst/>
          </a:prstGeom>
          <a:solidFill>
            <a:srgbClr val="F59E0B"/>
          </a:solidFill>
          <a:ln/>
        </p:spPr>
        <p:txBody>
          <a:bodyPr/>
          <a:lstStyle/>
          <a:p>
            <a:endParaRPr lang="en-US"/>
          </a:p>
        </p:txBody>
      </p:sp>
      <p:pic>
        <p:nvPicPr>
          <p:cNvPr id="24" name="Image 1" descr="preencoded.png"/>
          <p:cNvPicPr>
            <a:picLocks noChangeAspect="1"/>
          </p:cNvPicPr>
          <p:nvPr/>
        </p:nvPicPr>
        <p:blipFill>
          <a:blip r:embed="rId4"/>
          <a:stretch>
            <a:fillRect/>
          </a:stretch>
        </p:blipFill>
        <p:spPr>
          <a:xfrm>
            <a:off x="987552" y="5422392"/>
            <a:ext cx="292608" cy="292608"/>
          </a:xfrm>
          <a:prstGeom prst="rect">
            <a:avLst/>
          </a:prstGeom>
        </p:spPr>
      </p:pic>
      <p:sp>
        <p:nvSpPr>
          <p:cNvPr id="25" name="Text 21"/>
          <p:cNvSpPr/>
          <p:nvPr/>
        </p:nvSpPr>
        <p:spPr>
          <a:xfrm>
            <a:off x="1645920" y="5029200"/>
            <a:ext cx="9692640" cy="1097280"/>
          </a:xfrm>
          <a:prstGeom prst="rect">
            <a:avLst/>
          </a:prstGeom>
          <a:noFill/>
          <a:ln/>
        </p:spPr>
        <p:txBody>
          <a:bodyPr wrap="square" lIns="0" tIns="0" rIns="0" bIns="0" rtlCol="0" anchor="ctr"/>
          <a:lstStyle/>
          <a:p>
            <a:pPr marL="0" indent="0">
              <a:buNone/>
            </a:pPr>
            <a:r>
              <a:rPr lang="en-US" sz="1400" b="1" dirty="0">
                <a:solidFill>
                  <a:srgbClr val="B57A05"/>
                </a:solidFill>
                <a:latin typeface="Calibri" pitchFamily="34" charset="0"/>
                <a:ea typeface="Calibri" pitchFamily="34" charset="-122"/>
                <a:cs typeface="Calibri" pitchFamily="34" charset="-120"/>
              </a:rPr>
              <a:t>Ghi nhớ:  </a:t>
            </a:r>
            <a:r>
              <a:rPr lang="en-US" sz="1400" dirty="0">
                <a:solidFill>
                  <a:srgbClr val="12343B"/>
                </a:solidFill>
                <a:latin typeface="Calibri" pitchFamily="34" charset="0"/>
                <a:ea typeface="Calibri" pitchFamily="34" charset="-122"/>
                <a:cs typeface="Calibri" pitchFamily="34" charset="-120"/>
              </a:rPr>
              <a:t>TypeScript kiểm tra các điều kiện lần lượt từ trên xuống — gặp điều kiện đúng đầu tiên thì chạy nhánh đó và bỏ qua phần còn lại. Vì vậy hãy đặt điều kiện chặt (giá trị lớn) lên trước.</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502920" y="457200"/>
            <a:ext cx="658368" cy="658368"/>
          </a:xfrm>
          <a:prstGeom prst="ellipse">
            <a:avLst/>
          </a:prstGeom>
          <a:solidFill>
            <a:srgbClr val="028090"/>
          </a:solidFill>
          <a:ln/>
          <a:effectLst>
            <a:outerShdw blurRad="88900" dist="25400" dir="5400000" algn="bl" rotWithShape="0">
              <a:srgbClr val="000000">
                <a:alpha val="1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612648"/>
            <a:ext cx="347472" cy="347472"/>
          </a:xfrm>
          <a:prstGeom prst="rect">
            <a:avLst/>
          </a:prstGeom>
        </p:spPr>
      </p:pic>
      <p:sp>
        <p:nvSpPr>
          <p:cNvPr id="4" name="Text 1"/>
          <p:cNvSpPr/>
          <p:nvPr/>
        </p:nvSpPr>
        <p:spPr>
          <a:xfrm>
            <a:off x="1325880" y="457200"/>
            <a:ext cx="9601200" cy="658368"/>
          </a:xfrm>
          <a:prstGeom prst="rect">
            <a:avLst/>
          </a:prstGeom>
          <a:noFill/>
          <a:ln/>
        </p:spPr>
        <p:txBody>
          <a:bodyPr wrap="square" lIns="0" tIns="0" rIns="0" bIns="0" rtlCol="0" anchor="ctr"/>
          <a:lstStyle/>
          <a:p>
            <a:pPr marL="0" indent="0">
              <a:buNone/>
            </a:pPr>
            <a:r>
              <a:rPr lang="en-US" sz="2700" b="1" dirty="0">
                <a:solidFill>
                  <a:srgbClr val="12343B"/>
                </a:solidFill>
                <a:latin typeface="Calibri" pitchFamily="34" charset="0"/>
                <a:ea typeface="Calibri" pitchFamily="34" charset="-122"/>
                <a:cs typeface="Calibri" pitchFamily="34" charset="-120"/>
              </a:rPr>
              <a:t>Vòng lặp for và for...of</a:t>
            </a:r>
            <a:endParaRPr lang="en-US" sz="2700" dirty="0"/>
          </a:p>
        </p:txBody>
      </p:sp>
      <p:sp>
        <p:nvSpPr>
          <p:cNvPr id="5" name="Text 2"/>
          <p:cNvSpPr/>
          <p:nvPr/>
        </p:nvSpPr>
        <p:spPr>
          <a:xfrm>
            <a:off x="10241280" y="548640"/>
            <a:ext cx="1417320" cy="457200"/>
          </a:xfrm>
          <a:prstGeom prst="rect">
            <a:avLst/>
          </a:prstGeom>
          <a:noFill/>
          <a:ln/>
        </p:spPr>
        <p:txBody>
          <a:bodyPr wrap="square" rtlCol="0" anchor="ctr"/>
          <a:lstStyle/>
          <a:p>
            <a:pPr marL="0" indent="0" algn="r">
              <a:buNone/>
            </a:pPr>
            <a:r>
              <a:rPr lang="en-US" sz="1200" b="1" kern="0" spc="200" dirty="0">
                <a:solidFill>
                  <a:srgbClr val="00A896"/>
                </a:solidFill>
                <a:latin typeface="Calibri" pitchFamily="34" charset="0"/>
                <a:ea typeface="Calibri" pitchFamily="34" charset="-122"/>
                <a:cs typeface="Calibri" pitchFamily="34" charset="-120"/>
              </a:rPr>
              <a:t>BÀI 2</a:t>
            </a:r>
            <a:endParaRPr lang="en-US" sz="1200" dirty="0"/>
          </a:p>
        </p:txBody>
      </p:sp>
      <p:sp>
        <p:nvSpPr>
          <p:cNvPr id="6" name="Text 3"/>
          <p:cNvSpPr/>
          <p:nvPr/>
        </p:nvSpPr>
        <p:spPr>
          <a:xfrm>
            <a:off x="548640" y="1371600"/>
            <a:ext cx="11064240" cy="502920"/>
          </a:xfrm>
          <a:prstGeom prst="rect">
            <a:avLst/>
          </a:prstGeom>
          <a:noFill/>
          <a:ln/>
        </p:spPr>
        <p:txBody>
          <a:bodyPr wrap="square" rtlCol="0" anchor="ctr"/>
          <a:lstStyle/>
          <a:p>
            <a:pPr marL="0" indent="0">
              <a:buNone/>
            </a:pPr>
            <a:r>
              <a:rPr lang="en-US" sz="1500" dirty="0">
                <a:solidFill>
                  <a:srgbClr val="5A7378"/>
                </a:solidFill>
                <a:latin typeface="Calibri" pitchFamily="34" charset="0"/>
                <a:ea typeface="Calibri" pitchFamily="34" charset="-122"/>
                <a:cs typeface="Calibri" pitchFamily="34" charset="-120"/>
              </a:rPr>
              <a:t>Có danh sách nhiều giao dịch — không thể viết tay payments[0], payments[1]… Vòng lặp làm việc lặp lại tự động.</a:t>
            </a:r>
            <a:endParaRPr lang="en-US" sz="1500" dirty="0"/>
          </a:p>
        </p:txBody>
      </p:sp>
      <p:sp>
        <p:nvSpPr>
          <p:cNvPr id="7" name="Text 4"/>
          <p:cNvSpPr/>
          <p:nvPr/>
        </p:nvSpPr>
        <p:spPr>
          <a:xfrm>
            <a:off x="548640" y="2011680"/>
            <a:ext cx="5486400" cy="36576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for truyền thống (dùng index)</a:t>
            </a:r>
            <a:endParaRPr lang="en-US" sz="1500" dirty="0"/>
          </a:p>
        </p:txBody>
      </p:sp>
      <p:sp>
        <p:nvSpPr>
          <p:cNvPr id="8" name="Shape 5"/>
          <p:cNvSpPr/>
          <p:nvPr/>
        </p:nvSpPr>
        <p:spPr>
          <a:xfrm>
            <a:off x="548640" y="2423160"/>
            <a:ext cx="5532120" cy="1737360"/>
          </a:xfrm>
          <a:prstGeom prst="roundRect">
            <a:avLst>
              <a:gd name="adj" fmla="val 4211"/>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9" name="Text 6"/>
          <p:cNvSpPr/>
          <p:nvPr/>
        </p:nvSpPr>
        <p:spPr>
          <a:xfrm>
            <a:off x="749808" y="2569464"/>
            <a:ext cx="5129784" cy="1444752"/>
          </a:xfrm>
          <a:prstGeom prst="rect">
            <a:avLst/>
          </a:prstGeom>
          <a:noFill/>
          <a:ln/>
        </p:spPr>
        <p:txBody>
          <a:bodyPr wrap="square" lIns="0" tIns="0" rIns="0" bIns="0" rtlCol="0" anchor="t"/>
          <a:lstStyle/>
          <a:p>
            <a:pPr marL="0" indent="0" algn="l">
              <a:lnSpc>
                <a:spcPct val="112000"/>
              </a:lnSpc>
              <a:buNone/>
            </a:pPr>
            <a:r>
              <a:rPr lang="en-US" sz="1250" dirty="0">
                <a:solidFill>
                  <a:srgbClr val="9FE8DA"/>
                </a:solidFill>
                <a:latin typeface="Courier New" pitchFamily="34" charset="0"/>
                <a:ea typeface="Courier New" pitchFamily="34" charset="-122"/>
                <a:cs typeface="Courier New" pitchFamily="34" charset="-120"/>
              </a:rPr>
              <a:t>const ids = ["TXN001","TXN002","TXN003"];</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for (let i = 0; i &lt; ids.length; i++) {</a:t>
            </a:r>
            <a:endParaRPr lang="en-US" sz="1250" dirty="0"/>
          </a:p>
          <a:p>
            <a:pPr marL="0" indent="0" algn="l">
              <a:lnSpc>
                <a:spcPct val="112000"/>
              </a:lnSpc>
              <a:buNone/>
            </a:pPr>
            <a:r>
              <a:rPr lang="en-US" sz="1250" dirty="0">
                <a:solidFill>
                  <a:srgbClr val="D7E6E6"/>
                </a:solidFill>
                <a:latin typeface="Courier New" pitchFamily="34" charset="0"/>
                <a:ea typeface="Courier New" pitchFamily="34" charset="-122"/>
                <a:cs typeface="Courier New" pitchFamily="34" charset="-120"/>
              </a:rPr>
              <a:t>  console.log(i + ": " + ids[i]);</a:t>
            </a: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a:t>
            </a:r>
            <a:endParaRPr lang="en-US" sz="1250" dirty="0"/>
          </a:p>
        </p:txBody>
      </p:sp>
      <p:sp>
        <p:nvSpPr>
          <p:cNvPr id="10" name="Text 7"/>
          <p:cNvSpPr/>
          <p:nvPr/>
        </p:nvSpPr>
        <p:spPr>
          <a:xfrm>
            <a:off x="548640" y="4297680"/>
            <a:ext cx="5532120" cy="457200"/>
          </a:xfrm>
          <a:prstGeom prst="rect">
            <a:avLst/>
          </a:prstGeom>
          <a:noFill/>
          <a:ln/>
        </p:spPr>
        <p:txBody>
          <a:bodyPr wrap="square" lIns="0" tIns="0" rIns="0" bIns="0" rtlCol="0" anchor="ctr"/>
          <a:lstStyle/>
          <a:p>
            <a:pPr marL="0" indent="0">
              <a:buNone/>
            </a:pPr>
            <a:r>
              <a:rPr lang="en-US" sz="1250" b="1" dirty="0">
                <a:solidFill>
                  <a:srgbClr val="12343B"/>
                </a:solidFill>
                <a:latin typeface="Calibri" pitchFamily="34" charset="0"/>
                <a:ea typeface="Calibri" pitchFamily="34" charset="-122"/>
                <a:cs typeface="Calibri" pitchFamily="34" charset="-120"/>
              </a:rPr>
              <a:t>let i = 0</a:t>
            </a:r>
            <a:r>
              <a:rPr lang="en-US" sz="1250" dirty="0">
                <a:solidFill>
                  <a:srgbClr val="5A7378"/>
                </a:solidFill>
                <a:latin typeface="Calibri" pitchFamily="34" charset="0"/>
                <a:ea typeface="Calibri" pitchFamily="34" charset="-122"/>
                <a:cs typeface="Calibri" pitchFamily="34" charset="-120"/>
              </a:rPr>
              <a:t> bắt đầu · </a:t>
            </a:r>
            <a:r>
              <a:rPr lang="en-US" sz="1250" b="1" dirty="0">
                <a:solidFill>
                  <a:srgbClr val="12343B"/>
                </a:solidFill>
                <a:latin typeface="Calibri" pitchFamily="34" charset="0"/>
                <a:ea typeface="Calibri" pitchFamily="34" charset="-122"/>
                <a:cs typeface="Calibri" pitchFamily="34" charset="-120"/>
              </a:rPr>
              <a:t>i &lt; length</a:t>
            </a:r>
            <a:r>
              <a:rPr lang="en-US" sz="1250" dirty="0">
                <a:solidFill>
                  <a:srgbClr val="5A7378"/>
                </a:solidFill>
                <a:latin typeface="Calibri" pitchFamily="34" charset="0"/>
                <a:ea typeface="Calibri" pitchFamily="34" charset="-122"/>
                <a:cs typeface="Calibri" pitchFamily="34" charset="-120"/>
              </a:rPr>
              <a:t> điều kiện · </a:t>
            </a:r>
            <a:r>
              <a:rPr lang="en-US" sz="1250" b="1" dirty="0">
                <a:solidFill>
                  <a:srgbClr val="12343B"/>
                </a:solidFill>
                <a:latin typeface="Calibri" pitchFamily="34" charset="0"/>
                <a:ea typeface="Calibri" pitchFamily="34" charset="-122"/>
                <a:cs typeface="Calibri" pitchFamily="34" charset="-120"/>
              </a:rPr>
              <a:t>i++</a:t>
            </a:r>
            <a:r>
              <a:rPr lang="en-US" sz="1250" dirty="0">
                <a:solidFill>
                  <a:srgbClr val="5A7378"/>
                </a:solidFill>
                <a:latin typeface="Calibri" pitchFamily="34" charset="0"/>
                <a:ea typeface="Calibri" pitchFamily="34" charset="-122"/>
                <a:cs typeface="Calibri" pitchFamily="34" charset="-120"/>
              </a:rPr>
              <a:t> tăng dần</a:t>
            </a:r>
            <a:endParaRPr lang="en-US" sz="1250" dirty="0"/>
          </a:p>
        </p:txBody>
      </p:sp>
      <p:sp>
        <p:nvSpPr>
          <p:cNvPr id="11" name="Text 8"/>
          <p:cNvSpPr/>
          <p:nvPr/>
        </p:nvSpPr>
        <p:spPr>
          <a:xfrm>
            <a:off x="6355080" y="2011680"/>
            <a:ext cx="5486400" cy="365760"/>
          </a:xfrm>
          <a:prstGeom prst="rect">
            <a:avLst/>
          </a:prstGeom>
          <a:noFill/>
          <a:ln/>
        </p:spPr>
        <p:txBody>
          <a:bodyPr wrap="square"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for...of (gọn hơn, khuyên dùng)</a:t>
            </a:r>
            <a:endParaRPr lang="en-US" sz="1500" dirty="0"/>
          </a:p>
        </p:txBody>
      </p:sp>
      <p:sp>
        <p:nvSpPr>
          <p:cNvPr id="12" name="Shape 9"/>
          <p:cNvSpPr/>
          <p:nvPr/>
        </p:nvSpPr>
        <p:spPr>
          <a:xfrm>
            <a:off x="6355080" y="2423160"/>
            <a:ext cx="5257800" cy="1737360"/>
          </a:xfrm>
          <a:prstGeom prst="roundRect">
            <a:avLst>
              <a:gd name="adj" fmla="val 4211"/>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13" name="Text 10"/>
          <p:cNvSpPr/>
          <p:nvPr/>
        </p:nvSpPr>
        <p:spPr>
          <a:xfrm>
            <a:off x="6556248" y="2569464"/>
            <a:ext cx="4855464" cy="1444752"/>
          </a:xfrm>
          <a:prstGeom prst="rect">
            <a:avLst/>
          </a:prstGeom>
          <a:noFill/>
          <a:ln/>
        </p:spPr>
        <p:txBody>
          <a:bodyPr wrap="square" lIns="0" tIns="0" rIns="0" bIns="0" rtlCol="0" anchor="t"/>
          <a:lstStyle/>
          <a:p>
            <a:pPr marL="0" indent="0" algn="l">
              <a:lnSpc>
                <a:spcPct val="112000"/>
              </a:lnSpc>
              <a:buNone/>
            </a:pPr>
            <a:r>
              <a:rPr lang="en-US" sz="1250" dirty="0">
                <a:solidFill>
                  <a:srgbClr val="9FE8DA"/>
                </a:solidFill>
                <a:latin typeface="Courier New" pitchFamily="34" charset="0"/>
                <a:ea typeface="Courier New" pitchFamily="34" charset="-122"/>
                <a:cs typeface="Courier New" pitchFamily="34" charset="-120"/>
              </a:rPr>
              <a:t>const ids = ["TXN001","TXN002","TXN003"];</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for (const id of ids) {</a:t>
            </a:r>
            <a:endParaRPr lang="en-US" sz="1250" dirty="0"/>
          </a:p>
          <a:p>
            <a:pPr marL="0" indent="0" algn="l">
              <a:lnSpc>
                <a:spcPct val="112000"/>
              </a:lnSpc>
              <a:buNone/>
            </a:pPr>
            <a:r>
              <a:rPr lang="en-US" sz="1250" dirty="0">
                <a:solidFill>
                  <a:srgbClr val="D7E6E6"/>
                </a:solidFill>
                <a:latin typeface="Courier New" pitchFamily="34" charset="0"/>
                <a:ea typeface="Courier New" pitchFamily="34" charset="-122"/>
                <a:cs typeface="Courier New" pitchFamily="34" charset="-120"/>
              </a:rPr>
              <a:t>  console.log(id);</a:t>
            </a: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a:t>
            </a:r>
            <a:endParaRPr lang="en-US" sz="1250" dirty="0"/>
          </a:p>
        </p:txBody>
      </p:sp>
      <p:sp>
        <p:nvSpPr>
          <p:cNvPr id="14" name="Text 11"/>
          <p:cNvSpPr/>
          <p:nvPr/>
        </p:nvSpPr>
        <p:spPr>
          <a:xfrm>
            <a:off x="6355080" y="4297680"/>
            <a:ext cx="5257800" cy="457200"/>
          </a:xfrm>
          <a:prstGeom prst="rect">
            <a:avLst/>
          </a:prstGeom>
          <a:noFill/>
          <a:ln/>
        </p:spPr>
        <p:txBody>
          <a:bodyPr wrap="square" lIns="0" tIns="0" rIns="0" bIns="0" rtlCol="0" anchor="ctr"/>
          <a:lstStyle/>
          <a:p>
            <a:pPr marL="0" indent="0">
              <a:buNone/>
            </a:pPr>
            <a:r>
              <a:rPr lang="en-US" sz="1250" dirty="0">
                <a:solidFill>
                  <a:srgbClr val="5A7378"/>
                </a:solidFill>
                <a:latin typeface="Calibri" pitchFamily="34" charset="0"/>
                <a:ea typeface="Calibri" pitchFamily="34" charset="-122"/>
                <a:cs typeface="Calibri" pitchFamily="34" charset="-120"/>
              </a:rPr>
              <a:t>Duyệt trực tiếp từng phần tử — dễ đọc hơn khi không cần chỉ số.</a:t>
            </a:r>
            <a:endParaRPr lang="en-US" sz="1250" dirty="0"/>
          </a:p>
        </p:txBody>
      </p:sp>
      <p:sp>
        <p:nvSpPr>
          <p:cNvPr id="15" name="Shape 12"/>
          <p:cNvSpPr/>
          <p:nvPr/>
        </p:nvSpPr>
        <p:spPr>
          <a:xfrm>
            <a:off x="548640" y="5029200"/>
            <a:ext cx="11064240" cy="1051560"/>
          </a:xfrm>
          <a:prstGeom prst="roundRect">
            <a:avLst>
              <a:gd name="adj" fmla="val 7826"/>
            </a:avLst>
          </a:prstGeom>
          <a:solidFill>
            <a:srgbClr val="FFF6E5"/>
          </a:solidFill>
          <a:ln/>
        </p:spPr>
        <p:txBody>
          <a:bodyPr/>
          <a:lstStyle/>
          <a:p>
            <a:endParaRPr lang="en-US"/>
          </a:p>
        </p:txBody>
      </p:sp>
      <p:sp>
        <p:nvSpPr>
          <p:cNvPr id="16" name="Shape 13"/>
          <p:cNvSpPr/>
          <p:nvPr/>
        </p:nvSpPr>
        <p:spPr>
          <a:xfrm>
            <a:off x="822960" y="5239512"/>
            <a:ext cx="621792" cy="621792"/>
          </a:xfrm>
          <a:prstGeom prst="ellipse">
            <a:avLst/>
          </a:prstGeom>
          <a:solidFill>
            <a:srgbClr val="F59E0B"/>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987552" y="5404104"/>
            <a:ext cx="292608" cy="292608"/>
          </a:xfrm>
          <a:prstGeom prst="rect">
            <a:avLst/>
          </a:prstGeom>
        </p:spPr>
      </p:pic>
      <p:sp>
        <p:nvSpPr>
          <p:cNvPr id="18" name="Text 14"/>
          <p:cNvSpPr/>
          <p:nvPr/>
        </p:nvSpPr>
        <p:spPr>
          <a:xfrm>
            <a:off x="1645920" y="5029200"/>
            <a:ext cx="9692640" cy="1051560"/>
          </a:xfrm>
          <a:prstGeom prst="rect">
            <a:avLst/>
          </a:prstGeom>
          <a:noFill/>
          <a:ln/>
        </p:spPr>
        <p:txBody>
          <a:bodyPr wrap="square" lIns="0" tIns="0" rIns="0" bIns="0" rtlCol="0" anchor="ctr"/>
          <a:lstStyle/>
          <a:p>
            <a:pPr marL="0" indent="0">
              <a:buNone/>
            </a:pPr>
            <a:r>
              <a:rPr lang="en-US" sz="1400" b="1" dirty="0">
                <a:solidFill>
                  <a:srgbClr val="B57A05"/>
                </a:solidFill>
                <a:latin typeface="Calibri" pitchFamily="34" charset="0"/>
                <a:ea typeface="Calibri" pitchFamily="34" charset="-122"/>
                <a:cs typeface="Calibri" pitchFamily="34" charset="-120"/>
              </a:rPr>
              <a:t>Mẹo:  </a:t>
            </a:r>
            <a:r>
              <a:rPr lang="en-US" sz="1400" dirty="0">
                <a:solidFill>
                  <a:srgbClr val="12343B"/>
                </a:solidFill>
                <a:latin typeface="Calibri" pitchFamily="34" charset="0"/>
                <a:ea typeface="Calibri" pitchFamily="34" charset="-122"/>
                <a:cs typeface="Calibri" pitchFamily="34" charset="-120"/>
              </a:rPr>
              <a:t>Cần vị trí (index) thì dùng for; chỉ cần giá trị từng phần tử thì dùng for...of.</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502920" y="457200"/>
            <a:ext cx="658368" cy="658368"/>
          </a:xfrm>
          <a:prstGeom prst="ellipse">
            <a:avLst/>
          </a:prstGeom>
          <a:solidFill>
            <a:srgbClr val="028090"/>
          </a:solidFill>
          <a:ln/>
          <a:effectLst>
            <a:outerShdw blurRad="88900" dist="25400" dir="5400000" algn="bl" rotWithShape="0">
              <a:srgbClr val="000000">
                <a:alpha val="1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612648"/>
            <a:ext cx="347472" cy="347472"/>
          </a:xfrm>
          <a:prstGeom prst="rect">
            <a:avLst/>
          </a:prstGeom>
        </p:spPr>
      </p:pic>
      <p:sp>
        <p:nvSpPr>
          <p:cNvPr id="4" name="Text 1"/>
          <p:cNvSpPr/>
          <p:nvPr/>
        </p:nvSpPr>
        <p:spPr>
          <a:xfrm>
            <a:off x="1325880" y="457200"/>
            <a:ext cx="9601200" cy="658368"/>
          </a:xfrm>
          <a:prstGeom prst="rect">
            <a:avLst/>
          </a:prstGeom>
          <a:noFill/>
          <a:ln/>
        </p:spPr>
        <p:txBody>
          <a:bodyPr wrap="square" lIns="0" tIns="0" rIns="0" bIns="0" rtlCol="0" anchor="ctr"/>
          <a:lstStyle/>
          <a:p>
            <a:pPr marL="0" indent="0">
              <a:buNone/>
            </a:pPr>
            <a:r>
              <a:rPr lang="en-US" sz="2700" b="1" dirty="0">
                <a:solidFill>
                  <a:srgbClr val="12343B"/>
                </a:solidFill>
                <a:latin typeface="Calibri" pitchFamily="34" charset="0"/>
                <a:ea typeface="Calibri" pitchFamily="34" charset="-122"/>
                <a:cs typeface="Calibri" pitchFamily="34" charset="-120"/>
              </a:rPr>
              <a:t>Lặp qua Array of Objects</a:t>
            </a:r>
            <a:endParaRPr lang="en-US" sz="2700" dirty="0"/>
          </a:p>
        </p:txBody>
      </p:sp>
      <p:sp>
        <p:nvSpPr>
          <p:cNvPr id="5" name="Text 2"/>
          <p:cNvSpPr/>
          <p:nvPr/>
        </p:nvSpPr>
        <p:spPr>
          <a:xfrm>
            <a:off x="10241280" y="548640"/>
            <a:ext cx="1417320" cy="457200"/>
          </a:xfrm>
          <a:prstGeom prst="rect">
            <a:avLst/>
          </a:prstGeom>
          <a:noFill/>
          <a:ln/>
        </p:spPr>
        <p:txBody>
          <a:bodyPr wrap="square" rtlCol="0" anchor="ctr"/>
          <a:lstStyle/>
          <a:p>
            <a:pPr marL="0" indent="0" algn="r">
              <a:buNone/>
            </a:pPr>
            <a:r>
              <a:rPr lang="en-US" sz="1200" b="1" kern="0" spc="200" dirty="0">
                <a:solidFill>
                  <a:srgbClr val="00A896"/>
                </a:solidFill>
                <a:latin typeface="Calibri" pitchFamily="34" charset="0"/>
                <a:ea typeface="Calibri" pitchFamily="34" charset="-122"/>
                <a:cs typeface="Calibri" pitchFamily="34" charset="-120"/>
              </a:rPr>
              <a:t>BÀI 3</a:t>
            </a:r>
            <a:endParaRPr lang="en-US" sz="1200" dirty="0"/>
          </a:p>
        </p:txBody>
      </p:sp>
      <p:sp>
        <p:nvSpPr>
          <p:cNvPr id="6" name="Text 3"/>
          <p:cNvSpPr/>
          <p:nvPr/>
        </p:nvSpPr>
        <p:spPr>
          <a:xfrm>
            <a:off x="548640" y="1371600"/>
            <a:ext cx="11064240" cy="457200"/>
          </a:xfrm>
          <a:prstGeom prst="rect">
            <a:avLst/>
          </a:prstGeom>
          <a:noFill/>
          <a:ln/>
        </p:spPr>
        <p:txBody>
          <a:bodyPr wrap="square" rtlCol="0" anchor="ctr"/>
          <a:lstStyle/>
          <a:p>
            <a:pPr marL="0" indent="0">
              <a:buNone/>
            </a:pPr>
            <a:r>
              <a:rPr lang="en-US" sz="1500" dirty="0">
                <a:solidFill>
                  <a:srgbClr val="5A7378"/>
                </a:solidFill>
                <a:latin typeface="Calibri" pitchFamily="34" charset="0"/>
                <a:ea typeface="Calibri" pitchFamily="34" charset="-122"/>
                <a:cs typeface="Calibri" pitchFamily="34" charset="-120"/>
              </a:rPr>
              <a:t>Phần cốt lõi — kết hợp for...of với mảng PaymentData[] để xử lý danh sách giao dịch.</a:t>
            </a:r>
            <a:endParaRPr lang="en-US" sz="1500" dirty="0"/>
          </a:p>
        </p:txBody>
      </p:sp>
      <p:sp>
        <p:nvSpPr>
          <p:cNvPr id="7" name="Shape 4"/>
          <p:cNvSpPr/>
          <p:nvPr/>
        </p:nvSpPr>
        <p:spPr>
          <a:xfrm>
            <a:off x="548640" y="1920240"/>
            <a:ext cx="6446520" cy="4114800"/>
          </a:xfrm>
          <a:prstGeom prst="roundRect">
            <a:avLst>
              <a:gd name="adj" fmla="val 1778"/>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8" name="Text 5"/>
          <p:cNvSpPr/>
          <p:nvPr/>
        </p:nvSpPr>
        <p:spPr>
          <a:xfrm>
            <a:off x="749808" y="2066544"/>
            <a:ext cx="6044184" cy="3822192"/>
          </a:xfrm>
          <a:prstGeom prst="rect">
            <a:avLst/>
          </a:prstGeom>
          <a:noFill/>
          <a:ln/>
        </p:spPr>
        <p:txBody>
          <a:bodyPr wrap="square" lIns="0" tIns="0" rIns="0" bIns="0" rtlCol="0" anchor="t"/>
          <a:lstStyle/>
          <a:p>
            <a:pPr marL="0" indent="0" algn="l">
              <a:lnSpc>
                <a:spcPct val="112000"/>
              </a:lnSpc>
              <a:buNone/>
            </a:pPr>
            <a:r>
              <a:rPr lang="en-US" sz="1300" dirty="0">
                <a:solidFill>
                  <a:srgbClr val="F5C97B"/>
                </a:solidFill>
                <a:latin typeface="Courier New" pitchFamily="34" charset="0"/>
                <a:ea typeface="Courier New" pitchFamily="34" charset="-122"/>
                <a:cs typeface="Courier New" pitchFamily="34" charset="-120"/>
              </a:rPr>
              <a:t>type PaymentData = {</a:t>
            </a:r>
            <a:endParaRPr lang="en-US" sz="1300" dirty="0"/>
          </a:p>
          <a:p>
            <a:pPr marL="0" indent="0" algn="l">
              <a:lnSpc>
                <a:spcPct val="112000"/>
              </a:lnSpc>
              <a:buNone/>
            </a:pPr>
            <a:r>
              <a:rPr lang="en-US" sz="1300" dirty="0">
                <a:solidFill>
                  <a:srgbClr val="D7E6E6"/>
                </a:solidFill>
                <a:latin typeface="Courier New" pitchFamily="34" charset="0"/>
                <a:ea typeface="Courier New" pitchFamily="34" charset="-122"/>
                <a:cs typeface="Courier New" pitchFamily="34" charset="-120"/>
              </a:rPr>
              <a:t>  transactionId: string; amount: number;</a:t>
            </a:r>
            <a:endParaRPr lang="en-US" sz="1300" dirty="0"/>
          </a:p>
          <a:p>
            <a:pPr marL="0" indent="0" algn="l">
              <a:lnSpc>
                <a:spcPct val="112000"/>
              </a:lnSpc>
              <a:buNone/>
            </a:pPr>
            <a:r>
              <a:rPr lang="en-US" sz="1300" dirty="0">
                <a:solidFill>
                  <a:srgbClr val="D7E6E6"/>
                </a:solidFill>
                <a:latin typeface="Courier New" pitchFamily="34" charset="0"/>
                <a:ea typeface="Courier New" pitchFamily="34" charset="-122"/>
                <a:cs typeface="Courier New" pitchFamily="34" charset="-120"/>
              </a:rPr>
              <a:t>  currency: string; status: string;</a:t>
            </a:r>
            <a:endParaRPr lang="en-US" sz="1300" dirty="0"/>
          </a:p>
          <a:p>
            <a:pPr marL="0" indent="0" algn="l">
              <a:lnSpc>
                <a:spcPct val="112000"/>
              </a:lnSpc>
              <a:buNone/>
            </a:pPr>
            <a:r>
              <a:rPr lang="en-US" sz="1300" dirty="0">
                <a:solidFill>
                  <a:srgbClr val="F5C97B"/>
                </a:solidFill>
                <a:latin typeface="Courier New" pitchFamily="34" charset="0"/>
                <a:ea typeface="Courier New" pitchFamily="34" charset="-122"/>
                <a:cs typeface="Courier New" pitchFamily="34" charset="-120"/>
              </a:rPr>
              <a:t>};</a:t>
            </a:r>
            <a:endParaRPr lang="en-US" sz="1300" dirty="0"/>
          </a:p>
          <a:p>
            <a:pPr marL="0" indent="0" algn="l">
              <a:lnSpc>
                <a:spcPct val="112000"/>
              </a:lnSpc>
              <a:buNone/>
            </a:pPr>
            <a:endParaRPr lang="en-US" sz="1300" dirty="0"/>
          </a:p>
          <a:p>
            <a:pPr marL="0" indent="0" algn="l">
              <a:lnSpc>
                <a:spcPct val="112000"/>
              </a:lnSpc>
              <a:buNone/>
            </a:pPr>
            <a:r>
              <a:rPr lang="en-US" sz="1300" dirty="0">
                <a:solidFill>
                  <a:srgbClr val="9FE8DA"/>
                </a:solidFill>
                <a:latin typeface="Courier New" pitchFamily="34" charset="0"/>
                <a:ea typeface="Courier New" pitchFamily="34" charset="-122"/>
                <a:cs typeface="Courier New" pitchFamily="34" charset="-120"/>
              </a:rPr>
              <a:t>const payments: PaymentData[] = [ ... ];</a:t>
            </a:r>
            <a:endParaRPr lang="en-US" sz="1300" dirty="0"/>
          </a:p>
          <a:p>
            <a:pPr marL="0" indent="0" algn="l">
              <a:lnSpc>
                <a:spcPct val="112000"/>
              </a:lnSpc>
              <a:buNone/>
            </a:pPr>
            <a:endParaRPr lang="en-US" sz="1300" dirty="0"/>
          </a:p>
          <a:p>
            <a:pPr marL="0" indent="0" algn="l">
              <a:lnSpc>
                <a:spcPct val="112000"/>
              </a:lnSpc>
              <a:buNone/>
            </a:pPr>
            <a:r>
              <a:rPr lang="en-US" sz="1300" dirty="0">
                <a:solidFill>
                  <a:srgbClr val="F5C97B"/>
                </a:solidFill>
                <a:latin typeface="Courier New" pitchFamily="34" charset="0"/>
                <a:ea typeface="Courier New" pitchFamily="34" charset="-122"/>
                <a:cs typeface="Courier New" pitchFamily="34" charset="-120"/>
              </a:rPr>
              <a:t>for (const payment of payments) {</a:t>
            </a:r>
            <a:endParaRPr lang="en-US" sz="1300" dirty="0"/>
          </a:p>
          <a:p>
            <a:pPr marL="0" indent="0" algn="l">
              <a:lnSpc>
                <a:spcPct val="112000"/>
              </a:lnSpc>
              <a:buNone/>
            </a:pPr>
            <a:r>
              <a:rPr lang="en-US" sz="1300" dirty="0">
                <a:solidFill>
                  <a:srgbClr val="F5C97B"/>
                </a:solidFill>
                <a:latin typeface="Courier New" pitchFamily="34" charset="0"/>
                <a:ea typeface="Courier New" pitchFamily="34" charset="-122"/>
                <a:cs typeface="Courier New" pitchFamily="34" charset="-120"/>
              </a:rPr>
              <a:t>  if (payment.status === "SUCCESS") {</a:t>
            </a:r>
            <a:endParaRPr lang="en-US" sz="1300" dirty="0"/>
          </a:p>
          <a:p>
            <a:pPr marL="0" indent="0" algn="l">
              <a:lnSpc>
                <a:spcPct val="112000"/>
              </a:lnSpc>
              <a:buNone/>
            </a:pPr>
            <a:r>
              <a:rPr lang="en-US" sz="1300" dirty="0">
                <a:solidFill>
                  <a:srgbClr val="D7E6E6"/>
                </a:solidFill>
                <a:latin typeface="Courier New" pitchFamily="34" charset="0"/>
                <a:ea typeface="Courier New" pitchFamily="34" charset="-122"/>
                <a:cs typeface="Courier New" pitchFamily="34" charset="-120"/>
              </a:rPr>
              <a:t>    console.log(</a:t>
            </a:r>
            <a:endParaRPr lang="en-US" sz="1300" dirty="0"/>
          </a:p>
          <a:p>
            <a:pPr marL="0" indent="0" algn="l">
              <a:lnSpc>
                <a:spcPct val="112000"/>
              </a:lnSpc>
              <a:buNone/>
            </a:pPr>
            <a:r>
              <a:rPr lang="en-US" sz="1300" dirty="0">
                <a:solidFill>
                  <a:srgbClr val="D7E6E6"/>
                </a:solidFill>
                <a:latin typeface="Courier New" pitchFamily="34" charset="0"/>
                <a:ea typeface="Courier New" pitchFamily="34" charset="-122"/>
                <a:cs typeface="Courier New" pitchFamily="34" charset="-120"/>
              </a:rPr>
              <a:t>      "Hợp lệ: " + payment.transactionId);</a:t>
            </a:r>
            <a:endParaRPr lang="en-US" sz="1300" dirty="0"/>
          </a:p>
          <a:p>
            <a:pPr marL="0" indent="0" algn="l">
              <a:lnSpc>
                <a:spcPct val="112000"/>
              </a:lnSpc>
              <a:buNone/>
            </a:pPr>
            <a:r>
              <a:rPr lang="en-US" sz="1300" dirty="0">
                <a:solidFill>
                  <a:srgbClr val="F5C97B"/>
                </a:solidFill>
                <a:latin typeface="Courier New" pitchFamily="34" charset="0"/>
                <a:ea typeface="Courier New" pitchFamily="34" charset="-122"/>
                <a:cs typeface="Courier New" pitchFamily="34" charset="-120"/>
              </a:rPr>
              <a:t>  }</a:t>
            </a:r>
            <a:endParaRPr lang="en-US" sz="1300" dirty="0"/>
          </a:p>
          <a:p>
            <a:pPr marL="0" indent="0" algn="l">
              <a:lnSpc>
                <a:spcPct val="112000"/>
              </a:lnSpc>
              <a:buNone/>
            </a:pPr>
            <a:r>
              <a:rPr lang="en-US" sz="1300" dirty="0">
                <a:solidFill>
                  <a:srgbClr val="F5C97B"/>
                </a:solidFill>
                <a:latin typeface="Courier New" pitchFamily="34" charset="0"/>
                <a:ea typeface="Courier New" pitchFamily="34" charset="-122"/>
                <a:cs typeface="Courier New" pitchFamily="34" charset="-120"/>
              </a:rPr>
              <a:t>}</a:t>
            </a:r>
            <a:endParaRPr lang="en-US" sz="1300" dirty="0"/>
          </a:p>
        </p:txBody>
      </p:sp>
      <p:sp>
        <p:nvSpPr>
          <p:cNvPr id="9" name="Text 6"/>
          <p:cNvSpPr/>
          <p:nvPr/>
        </p:nvSpPr>
        <p:spPr>
          <a:xfrm>
            <a:off x="7269480" y="1920240"/>
            <a:ext cx="4343400" cy="365760"/>
          </a:xfrm>
          <a:prstGeom prst="rect">
            <a:avLst/>
          </a:prstGeom>
          <a:noFill/>
          <a:ln/>
        </p:spPr>
        <p:txBody>
          <a:bodyPr wrap="square"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Kết quả in ra</a:t>
            </a:r>
            <a:endParaRPr lang="en-US" sz="1400" dirty="0"/>
          </a:p>
        </p:txBody>
      </p:sp>
      <p:sp>
        <p:nvSpPr>
          <p:cNvPr id="10" name="Shape 7"/>
          <p:cNvSpPr/>
          <p:nvPr/>
        </p:nvSpPr>
        <p:spPr>
          <a:xfrm>
            <a:off x="7269480" y="2331720"/>
            <a:ext cx="4343400" cy="548640"/>
          </a:xfrm>
          <a:prstGeom prst="roundRect">
            <a:avLst>
              <a:gd name="adj" fmla="val 10000"/>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11" name="Text 8"/>
          <p:cNvSpPr/>
          <p:nvPr/>
        </p:nvSpPr>
        <p:spPr>
          <a:xfrm>
            <a:off x="7452360" y="2331720"/>
            <a:ext cx="1920240" cy="548640"/>
          </a:xfrm>
          <a:prstGeom prst="rect">
            <a:avLst/>
          </a:prstGeom>
          <a:noFill/>
          <a:ln/>
        </p:spPr>
        <p:txBody>
          <a:bodyPr wrap="square" lIns="0" tIns="0" rIns="0" bIns="0" rtlCol="0" anchor="ctr"/>
          <a:lstStyle/>
          <a:p>
            <a:pPr marL="0" indent="0">
              <a:buNone/>
            </a:pPr>
            <a:r>
              <a:rPr lang="en-US" sz="1400" b="1" dirty="0">
                <a:solidFill>
                  <a:srgbClr val="12343B"/>
                </a:solidFill>
                <a:latin typeface="Courier New" pitchFamily="34" charset="0"/>
                <a:ea typeface="Courier New" pitchFamily="34" charset="-122"/>
                <a:cs typeface="Courier New" pitchFamily="34" charset="-120"/>
              </a:rPr>
              <a:t>TXN001</a:t>
            </a:r>
            <a:endParaRPr lang="en-US" sz="1400" dirty="0"/>
          </a:p>
        </p:txBody>
      </p:sp>
      <p:sp>
        <p:nvSpPr>
          <p:cNvPr id="12" name="Shape 9"/>
          <p:cNvSpPr/>
          <p:nvPr/>
        </p:nvSpPr>
        <p:spPr>
          <a:xfrm>
            <a:off x="9464040" y="2450592"/>
            <a:ext cx="1965960" cy="310896"/>
          </a:xfrm>
          <a:prstGeom prst="roundRect">
            <a:avLst>
              <a:gd name="adj" fmla="val 50000"/>
            </a:avLst>
          </a:prstGeom>
          <a:solidFill>
            <a:srgbClr val="10B981"/>
          </a:solidFill>
          <a:ln/>
        </p:spPr>
        <p:txBody>
          <a:bodyPr/>
          <a:lstStyle/>
          <a:p>
            <a:endParaRPr lang="en-US"/>
          </a:p>
        </p:txBody>
      </p:sp>
      <p:sp>
        <p:nvSpPr>
          <p:cNvPr id="13" name="Text 10"/>
          <p:cNvSpPr/>
          <p:nvPr/>
        </p:nvSpPr>
        <p:spPr>
          <a:xfrm>
            <a:off x="9464040" y="2450592"/>
            <a:ext cx="19659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SUCCESS</a:t>
            </a:r>
            <a:endParaRPr lang="en-US" sz="1100" dirty="0"/>
          </a:p>
        </p:txBody>
      </p:sp>
      <p:sp>
        <p:nvSpPr>
          <p:cNvPr id="14" name="Shape 11"/>
          <p:cNvSpPr/>
          <p:nvPr/>
        </p:nvSpPr>
        <p:spPr>
          <a:xfrm>
            <a:off x="7269480" y="2990088"/>
            <a:ext cx="4343400" cy="548640"/>
          </a:xfrm>
          <a:prstGeom prst="roundRect">
            <a:avLst>
              <a:gd name="adj" fmla="val 10000"/>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15" name="Text 12"/>
          <p:cNvSpPr/>
          <p:nvPr/>
        </p:nvSpPr>
        <p:spPr>
          <a:xfrm>
            <a:off x="7452360" y="2990088"/>
            <a:ext cx="1920240" cy="548640"/>
          </a:xfrm>
          <a:prstGeom prst="rect">
            <a:avLst/>
          </a:prstGeom>
          <a:noFill/>
          <a:ln/>
        </p:spPr>
        <p:txBody>
          <a:bodyPr wrap="square" lIns="0" tIns="0" rIns="0" bIns="0" rtlCol="0" anchor="ctr"/>
          <a:lstStyle/>
          <a:p>
            <a:pPr marL="0" indent="0">
              <a:buNone/>
            </a:pPr>
            <a:r>
              <a:rPr lang="en-US" sz="1400" b="1" dirty="0">
                <a:solidFill>
                  <a:srgbClr val="12343B"/>
                </a:solidFill>
                <a:latin typeface="Courier New" pitchFamily="34" charset="0"/>
                <a:ea typeface="Courier New" pitchFamily="34" charset="-122"/>
                <a:cs typeface="Courier New" pitchFamily="34" charset="-120"/>
              </a:rPr>
              <a:t>TXN002</a:t>
            </a:r>
            <a:endParaRPr lang="en-US" sz="1400" dirty="0"/>
          </a:p>
        </p:txBody>
      </p:sp>
      <p:sp>
        <p:nvSpPr>
          <p:cNvPr id="16" name="Shape 13"/>
          <p:cNvSpPr/>
          <p:nvPr/>
        </p:nvSpPr>
        <p:spPr>
          <a:xfrm>
            <a:off x="9464040" y="3108960"/>
            <a:ext cx="1965960" cy="310896"/>
          </a:xfrm>
          <a:prstGeom prst="roundRect">
            <a:avLst>
              <a:gd name="adj" fmla="val 50000"/>
            </a:avLst>
          </a:prstGeom>
          <a:solidFill>
            <a:srgbClr val="F59E0B"/>
          </a:solidFill>
          <a:ln/>
        </p:spPr>
        <p:txBody>
          <a:bodyPr/>
          <a:lstStyle/>
          <a:p>
            <a:endParaRPr lang="en-US"/>
          </a:p>
        </p:txBody>
      </p:sp>
      <p:sp>
        <p:nvSpPr>
          <p:cNvPr id="17" name="Text 14"/>
          <p:cNvSpPr/>
          <p:nvPr/>
        </p:nvSpPr>
        <p:spPr>
          <a:xfrm>
            <a:off x="9464040" y="3108960"/>
            <a:ext cx="19659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PENDING</a:t>
            </a:r>
            <a:endParaRPr lang="en-US" sz="1100" dirty="0"/>
          </a:p>
        </p:txBody>
      </p:sp>
      <p:sp>
        <p:nvSpPr>
          <p:cNvPr id="18" name="Shape 15"/>
          <p:cNvSpPr/>
          <p:nvPr/>
        </p:nvSpPr>
        <p:spPr>
          <a:xfrm>
            <a:off x="7269480" y="3648456"/>
            <a:ext cx="4343400" cy="548640"/>
          </a:xfrm>
          <a:prstGeom prst="roundRect">
            <a:avLst>
              <a:gd name="adj" fmla="val 10000"/>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19" name="Text 16"/>
          <p:cNvSpPr/>
          <p:nvPr/>
        </p:nvSpPr>
        <p:spPr>
          <a:xfrm>
            <a:off x="7452360" y="3648456"/>
            <a:ext cx="1920240" cy="548640"/>
          </a:xfrm>
          <a:prstGeom prst="rect">
            <a:avLst/>
          </a:prstGeom>
          <a:noFill/>
          <a:ln/>
        </p:spPr>
        <p:txBody>
          <a:bodyPr wrap="square" lIns="0" tIns="0" rIns="0" bIns="0" rtlCol="0" anchor="ctr"/>
          <a:lstStyle/>
          <a:p>
            <a:pPr marL="0" indent="0">
              <a:buNone/>
            </a:pPr>
            <a:r>
              <a:rPr lang="en-US" sz="1400" b="1" dirty="0">
                <a:solidFill>
                  <a:srgbClr val="12343B"/>
                </a:solidFill>
                <a:latin typeface="Courier New" pitchFamily="34" charset="0"/>
                <a:ea typeface="Courier New" pitchFamily="34" charset="-122"/>
                <a:cs typeface="Courier New" pitchFamily="34" charset="-120"/>
              </a:rPr>
              <a:t>TXN003</a:t>
            </a:r>
            <a:endParaRPr lang="en-US" sz="1400" dirty="0"/>
          </a:p>
        </p:txBody>
      </p:sp>
      <p:sp>
        <p:nvSpPr>
          <p:cNvPr id="20" name="Shape 17"/>
          <p:cNvSpPr/>
          <p:nvPr/>
        </p:nvSpPr>
        <p:spPr>
          <a:xfrm>
            <a:off x="9464040" y="3767328"/>
            <a:ext cx="1965960" cy="310896"/>
          </a:xfrm>
          <a:prstGeom prst="roundRect">
            <a:avLst>
              <a:gd name="adj" fmla="val 50000"/>
            </a:avLst>
          </a:prstGeom>
          <a:solidFill>
            <a:srgbClr val="EF4444"/>
          </a:solidFill>
          <a:ln/>
        </p:spPr>
        <p:txBody>
          <a:bodyPr/>
          <a:lstStyle/>
          <a:p>
            <a:endParaRPr lang="en-US"/>
          </a:p>
        </p:txBody>
      </p:sp>
      <p:sp>
        <p:nvSpPr>
          <p:cNvPr id="21" name="Text 18"/>
          <p:cNvSpPr/>
          <p:nvPr/>
        </p:nvSpPr>
        <p:spPr>
          <a:xfrm>
            <a:off x="9464040" y="3767328"/>
            <a:ext cx="19659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FAILED</a:t>
            </a:r>
            <a:endParaRPr lang="en-US" sz="1100" dirty="0"/>
          </a:p>
        </p:txBody>
      </p:sp>
      <p:sp>
        <p:nvSpPr>
          <p:cNvPr id="22" name="Shape 19"/>
          <p:cNvSpPr/>
          <p:nvPr/>
        </p:nvSpPr>
        <p:spPr>
          <a:xfrm>
            <a:off x="7269480" y="4434840"/>
            <a:ext cx="4343400" cy="777240"/>
          </a:xfrm>
          <a:prstGeom prst="roundRect">
            <a:avLst>
              <a:gd name="adj" fmla="val 9412"/>
            </a:avLst>
          </a:prstGeom>
          <a:solidFill>
            <a:srgbClr val="E4F4F1"/>
          </a:solidFill>
          <a:ln/>
        </p:spPr>
        <p:txBody>
          <a:bodyPr/>
          <a:lstStyle/>
          <a:p>
            <a:endParaRPr lang="en-US"/>
          </a:p>
        </p:txBody>
      </p:sp>
      <p:sp>
        <p:nvSpPr>
          <p:cNvPr id="23" name="Text 20"/>
          <p:cNvSpPr/>
          <p:nvPr/>
        </p:nvSpPr>
        <p:spPr>
          <a:xfrm>
            <a:off x="7452360" y="4434840"/>
            <a:ext cx="4023360" cy="777240"/>
          </a:xfrm>
          <a:prstGeom prst="rect">
            <a:avLst/>
          </a:prstGeom>
          <a:noFill/>
          <a:ln/>
        </p:spPr>
        <p:txBody>
          <a:bodyPr wrap="square" lIns="0" tIns="0" rIns="0" bIns="0" rtlCol="0" anchor="ctr"/>
          <a:lstStyle/>
          <a:p>
            <a:pPr marL="0" indent="0">
              <a:buNone/>
            </a:pPr>
            <a:r>
              <a:rPr lang="en-US" sz="1400" dirty="0">
                <a:solidFill>
                  <a:srgbClr val="12343B"/>
                </a:solidFill>
                <a:latin typeface="Calibri" pitchFamily="34" charset="0"/>
                <a:ea typeface="Calibri" pitchFamily="34" charset="-122"/>
                <a:cs typeface="Calibri" pitchFamily="34" charset="-120"/>
              </a:rPr>
              <a:t>→ Lọc SUCCESS cho: </a:t>
            </a:r>
            <a:r>
              <a:rPr lang="en-US" sz="1400" b="1" dirty="0">
                <a:solidFill>
                  <a:srgbClr val="028090"/>
                </a:solidFill>
                <a:latin typeface="Calibri" pitchFamily="34" charset="0"/>
                <a:ea typeface="Calibri" pitchFamily="34" charset="-122"/>
                <a:cs typeface="Calibri" pitchFamily="34" charset="-120"/>
              </a:rPr>
              <a:t>TXN001</a:t>
            </a:r>
            <a:endParaRPr lang="en-US" sz="1400" dirty="0"/>
          </a:p>
        </p:txBody>
      </p:sp>
      <p:sp>
        <p:nvSpPr>
          <p:cNvPr id="24" name="Text 21"/>
          <p:cNvSpPr/>
          <p:nvPr/>
        </p:nvSpPr>
        <p:spPr>
          <a:xfrm>
            <a:off x="7269480" y="5349240"/>
            <a:ext cx="4343400" cy="685800"/>
          </a:xfrm>
          <a:prstGeom prst="rect">
            <a:avLst/>
          </a:prstGeom>
          <a:noFill/>
          <a:ln/>
        </p:spPr>
        <p:txBody>
          <a:bodyPr wrap="square" lIns="0" tIns="0" rIns="0" bIns="0" rtlCol="0" anchor="t"/>
          <a:lstStyle/>
          <a:p>
            <a:pPr marL="0" indent="0">
              <a:buNone/>
            </a:pPr>
            <a:r>
              <a:rPr lang="en-US" sz="1250" b="1" dirty="0">
                <a:solidFill>
                  <a:srgbClr val="028090"/>
                </a:solidFill>
                <a:latin typeface="Calibri" pitchFamily="34" charset="0"/>
                <a:ea typeface="Calibri" pitchFamily="34" charset="-122"/>
                <a:cs typeface="Calibri" pitchFamily="34" charset="-120"/>
              </a:rPr>
              <a:t>Liên hệ QA:  </a:t>
            </a:r>
            <a:r>
              <a:rPr lang="en-US" sz="1250" dirty="0">
                <a:solidFill>
                  <a:srgbClr val="5A7378"/>
                </a:solidFill>
                <a:latin typeface="Calibri" pitchFamily="34" charset="0"/>
                <a:ea typeface="Calibri" pitchFamily="34" charset="-122"/>
                <a:cs typeface="Calibri" pitchFamily="34" charset="-120"/>
              </a:rPr>
              <a:t>Duyệt danh sách response API và assert từng phần tử — kỹ năng dùng mỗi ngày khi viết automation test.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502920" y="457200"/>
            <a:ext cx="658368" cy="658368"/>
          </a:xfrm>
          <a:prstGeom prst="ellipse">
            <a:avLst/>
          </a:prstGeom>
          <a:solidFill>
            <a:srgbClr val="028090"/>
          </a:solidFill>
          <a:ln/>
          <a:effectLst>
            <a:outerShdw blurRad="88900" dist="25400" dir="5400000" algn="bl" rotWithShape="0">
              <a:srgbClr val="000000">
                <a:alpha val="1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612648"/>
            <a:ext cx="347472" cy="347472"/>
          </a:xfrm>
          <a:prstGeom prst="rect">
            <a:avLst/>
          </a:prstGeom>
        </p:spPr>
      </p:pic>
      <p:sp>
        <p:nvSpPr>
          <p:cNvPr id="4" name="Text 1"/>
          <p:cNvSpPr/>
          <p:nvPr/>
        </p:nvSpPr>
        <p:spPr>
          <a:xfrm>
            <a:off x="1325880" y="457200"/>
            <a:ext cx="9601200" cy="658368"/>
          </a:xfrm>
          <a:prstGeom prst="rect">
            <a:avLst/>
          </a:prstGeom>
          <a:noFill/>
          <a:ln/>
        </p:spPr>
        <p:txBody>
          <a:bodyPr wrap="square" lIns="0" tIns="0" rIns="0" bIns="0" rtlCol="0" anchor="ctr"/>
          <a:lstStyle/>
          <a:p>
            <a:pPr marL="0" indent="0">
              <a:buNone/>
            </a:pPr>
            <a:r>
              <a:rPr lang="en-US" sz="2700" b="1" dirty="0">
                <a:solidFill>
                  <a:srgbClr val="12343B"/>
                </a:solidFill>
                <a:latin typeface="Calibri" pitchFamily="34" charset="0"/>
                <a:ea typeface="Calibri" pitchFamily="34" charset="-122"/>
                <a:cs typeface="Calibri" pitchFamily="34" charset="-120"/>
              </a:rPr>
              <a:t>Giới thiệu map và filter</a:t>
            </a:r>
            <a:endParaRPr lang="en-US" sz="2700" dirty="0"/>
          </a:p>
        </p:txBody>
      </p:sp>
      <p:sp>
        <p:nvSpPr>
          <p:cNvPr id="5" name="Text 2"/>
          <p:cNvSpPr/>
          <p:nvPr/>
        </p:nvSpPr>
        <p:spPr>
          <a:xfrm>
            <a:off x="10241280" y="548640"/>
            <a:ext cx="1417320" cy="457200"/>
          </a:xfrm>
          <a:prstGeom prst="rect">
            <a:avLst/>
          </a:prstGeom>
          <a:noFill/>
          <a:ln/>
        </p:spPr>
        <p:txBody>
          <a:bodyPr wrap="square" rtlCol="0" anchor="ctr"/>
          <a:lstStyle/>
          <a:p>
            <a:pPr marL="0" indent="0" algn="r">
              <a:buNone/>
            </a:pPr>
            <a:r>
              <a:rPr lang="en-US" sz="1200" b="1" kern="0" spc="200" dirty="0">
                <a:solidFill>
                  <a:srgbClr val="00A896"/>
                </a:solidFill>
                <a:latin typeface="Calibri" pitchFamily="34" charset="0"/>
                <a:ea typeface="Calibri" pitchFamily="34" charset="-122"/>
                <a:cs typeface="Calibri" pitchFamily="34" charset="-120"/>
              </a:rPr>
              <a:t>BÀI 4</a:t>
            </a:r>
            <a:endParaRPr lang="en-US" sz="1200" dirty="0"/>
          </a:p>
        </p:txBody>
      </p:sp>
      <p:sp>
        <p:nvSpPr>
          <p:cNvPr id="6" name="Text 3"/>
          <p:cNvSpPr/>
          <p:nvPr/>
        </p:nvSpPr>
        <p:spPr>
          <a:xfrm>
            <a:off x="548640" y="1371600"/>
            <a:ext cx="11064240" cy="457200"/>
          </a:xfrm>
          <a:prstGeom prst="rect">
            <a:avLst/>
          </a:prstGeom>
          <a:noFill/>
          <a:ln/>
        </p:spPr>
        <p:txBody>
          <a:bodyPr wrap="square" rtlCol="0" anchor="ctr"/>
          <a:lstStyle/>
          <a:p>
            <a:pPr marL="0" indent="0">
              <a:buNone/>
            </a:pPr>
            <a:r>
              <a:rPr lang="en-US" sz="1500" dirty="0">
                <a:solidFill>
                  <a:srgbClr val="5A7378"/>
                </a:solidFill>
                <a:latin typeface="Calibri" pitchFamily="34" charset="0"/>
                <a:ea typeface="Calibri" pitchFamily="34" charset="-122"/>
                <a:cs typeface="Calibri" pitchFamily="34" charset="-120"/>
              </a:rPr>
              <a:t>Mức nhận biết — buổi này chỉ cần hiểu ý tưởng, chưa cần thành thạo. Ưu tiên for...of cho dễ hiểu.</a:t>
            </a:r>
            <a:endParaRPr lang="en-US" sz="1500" dirty="0"/>
          </a:p>
        </p:txBody>
      </p:sp>
      <p:sp>
        <p:nvSpPr>
          <p:cNvPr id="7" name="Shape 4"/>
          <p:cNvSpPr/>
          <p:nvPr/>
        </p:nvSpPr>
        <p:spPr>
          <a:xfrm>
            <a:off x="548640" y="1965960"/>
            <a:ext cx="5440680" cy="3566160"/>
          </a:xfrm>
          <a:prstGeom prst="roundRect">
            <a:avLst>
              <a:gd name="adj" fmla="val 2564"/>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8" name="Shape 5"/>
          <p:cNvSpPr/>
          <p:nvPr/>
        </p:nvSpPr>
        <p:spPr>
          <a:xfrm>
            <a:off x="868680" y="2286000"/>
            <a:ext cx="685800" cy="685800"/>
          </a:xfrm>
          <a:prstGeom prst="ellipse">
            <a:avLst/>
          </a:prstGeom>
          <a:solidFill>
            <a:srgbClr val="028090"/>
          </a:solidFill>
          <a:ln/>
        </p:spPr>
        <p:txBody>
          <a:bodyPr/>
          <a:lstStyle/>
          <a:p>
            <a:endParaRPr lang="en-US"/>
          </a:p>
        </p:txBody>
      </p:sp>
      <p:pic>
        <p:nvPicPr>
          <p:cNvPr id="9" name="Image 1" descr="preencoded.png"/>
          <p:cNvPicPr>
            <a:picLocks noChangeAspect="1"/>
          </p:cNvPicPr>
          <p:nvPr/>
        </p:nvPicPr>
        <p:blipFill>
          <a:blip r:embed="rId3"/>
          <a:stretch>
            <a:fillRect/>
          </a:stretch>
        </p:blipFill>
        <p:spPr>
          <a:xfrm>
            <a:off x="1042416" y="2459736"/>
            <a:ext cx="338328" cy="338328"/>
          </a:xfrm>
          <a:prstGeom prst="rect">
            <a:avLst/>
          </a:prstGeom>
        </p:spPr>
      </p:pic>
      <p:sp>
        <p:nvSpPr>
          <p:cNvPr id="10" name="Text 6"/>
          <p:cNvSpPr/>
          <p:nvPr/>
        </p:nvSpPr>
        <p:spPr>
          <a:xfrm>
            <a:off x="1737360" y="2286000"/>
            <a:ext cx="4023360" cy="685800"/>
          </a:xfrm>
          <a:prstGeom prst="rect">
            <a:avLst/>
          </a:prstGeom>
          <a:noFill/>
          <a:ln/>
        </p:spPr>
        <p:txBody>
          <a:bodyPr wrap="square" lIns="0" tIns="0" rIns="0" bIns="0" rtlCol="0" anchor="ctr"/>
          <a:lstStyle/>
          <a:p>
            <a:pPr marL="0" indent="0">
              <a:buNone/>
            </a:pPr>
            <a:r>
              <a:rPr lang="en-US" sz="2000" b="1" dirty="0">
                <a:solidFill>
                  <a:srgbClr val="12343B"/>
                </a:solidFill>
                <a:latin typeface="Cambria" pitchFamily="34" charset="0"/>
                <a:ea typeface="Cambria" pitchFamily="34" charset="-122"/>
                <a:cs typeface="Cambria" pitchFamily="34" charset="-120"/>
              </a:rPr>
              <a:t>filter — LỌC</a:t>
            </a:r>
            <a:endParaRPr lang="en-US" sz="2000" dirty="0"/>
          </a:p>
        </p:txBody>
      </p:sp>
      <p:sp>
        <p:nvSpPr>
          <p:cNvPr id="11" name="Shape 7"/>
          <p:cNvSpPr/>
          <p:nvPr/>
        </p:nvSpPr>
        <p:spPr>
          <a:xfrm>
            <a:off x="868680" y="3200400"/>
            <a:ext cx="4800600" cy="1234440"/>
          </a:xfrm>
          <a:prstGeom prst="roundRect">
            <a:avLst>
              <a:gd name="adj" fmla="val 5926"/>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12" name="Text 8"/>
          <p:cNvSpPr/>
          <p:nvPr/>
        </p:nvSpPr>
        <p:spPr>
          <a:xfrm>
            <a:off x="1069848" y="3346704"/>
            <a:ext cx="4398264" cy="941832"/>
          </a:xfrm>
          <a:prstGeom prst="rect">
            <a:avLst/>
          </a:prstGeom>
          <a:noFill/>
          <a:ln/>
        </p:spPr>
        <p:txBody>
          <a:bodyPr wrap="square" lIns="0" tIns="0" rIns="0" bIns="0" rtlCol="0" anchor="t"/>
          <a:lstStyle/>
          <a:p>
            <a:pPr marL="0" indent="0" algn="l">
              <a:lnSpc>
                <a:spcPct val="112000"/>
              </a:lnSpc>
              <a:buNone/>
            </a:pPr>
            <a:r>
              <a:rPr lang="en-US" sz="1150" dirty="0">
                <a:solidFill>
                  <a:srgbClr val="9FE8DA"/>
                </a:solidFill>
                <a:latin typeface="Courier New" pitchFamily="34" charset="0"/>
                <a:ea typeface="Courier New" pitchFamily="34" charset="-122"/>
                <a:cs typeface="Courier New" pitchFamily="34" charset="-120"/>
              </a:rPr>
              <a:t>const ok = payments.filter(</a:t>
            </a:r>
            <a:endParaRPr lang="en-US" sz="1150" dirty="0"/>
          </a:p>
          <a:p>
            <a:pPr marL="0" indent="0" algn="l">
              <a:lnSpc>
                <a:spcPct val="112000"/>
              </a:lnSpc>
              <a:buNone/>
            </a:pPr>
            <a:r>
              <a:rPr lang="en-US" sz="1150" dirty="0">
                <a:solidFill>
                  <a:srgbClr val="D7E6E6"/>
                </a:solidFill>
                <a:latin typeface="Courier New" pitchFamily="34" charset="0"/>
                <a:ea typeface="Courier New" pitchFamily="34" charset="-122"/>
                <a:cs typeface="Courier New" pitchFamily="34" charset="-120"/>
              </a:rPr>
              <a:t>  p =&gt; p.status === "SUCCESS"</a:t>
            </a:r>
            <a:endParaRPr lang="en-US" sz="1150" dirty="0"/>
          </a:p>
          <a:p>
            <a:pPr marL="0" indent="0" algn="l">
              <a:lnSpc>
                <a:spcPct val="112000"/>
              </a:lnSpc>
              <a:buNone/>
            </a:pPr>
            <a:r>
              <a:rPr lang="en-US" sz="1150" dirty="0">
                <a:solidFill>
                  <a:srgbClr val="9FE8DA"/>
                </a:solidFill>
                <a:latin typeface="Courier New" pitchFamily="34" charset="0"/>
                <a:ea typeface="Courier New" pitchFamily="34" charset="-122"/>
                <a:cs typeface="Courier New" pitchFamily="34" charset="-120"/>
              </a:rPr>
              <a:t>);</a:t>
            </a:r>
            <a:endParaRPr lang="en-US" sz="1150" dirty="0"/>
          </a:p>
          <a:p>
            <a:pPr marL="0" indent="0" algn="l">
              <a:lnSpc>
                <a:spcPct val="112000"/>
              </a:lnSpc>
              <a:buNone/>
            </a:pPr>
            <a:r>
              <a:rPr lang="en-US" sz="1150" dirty="0">
                <a:solidFill>
                  <a:srgbClr val="7F9CA0"/>
                </a:solidFill>
                <a:latin typeface="Courier New" pitchFamily="34" charset="0"/>
                <a:ea typeface="Courier New" pitchFamily="34" charset="-122"/>
                <a:cs typeface="Courier New" pitchFamily="34" charset="-120"/>
              </a:rPr>
              <a:t>// ok.length === 1</a:t>
            </a:r>
            <a:endParaRPr lang="en-US" sz="1150" dirty="0"/>
          </a:p>
        </p:txBody>
      </p:sp>
      <p:sp>
        <p:nvSpPr>
          <p:cNvPr id="13" name="Text 9"/>
          <p:cNvSpPr/>
          <p:nvPr/>
        </p:nvSpPr>
        <p:spPr>
          <a:xfrm>
            <a:off x="868680" y="4572000"/>
            <a:ext cx="4846320" cy="822960"/>
          </a:xfrm>
          <a:prstGeom prst="rect">
            <a:avLst/>
          </a:prstGeom>
          <a:noFill/>
          <a:ln/>
        </p:spPr>
        <p:txBody>
          <a:bodyPr wrap="square" lIns="0" tIns="0" rIns="0" bIns="0" rtlCol="0" anchor="t"/>
          <a:lstStyle/>
          <a:p>
            <a:pPr marL="0" indent="0">
              <a:buNone/>
            </a:pPr>
            <a:r>
              <a:rPr lang="en-US" sz="1300" dirty="0">
                <a:solidFill>
                  <a:srgbClr val="5A7378"/>
                </a:solidFill>
                <a:latin typeface="Calibri" pitchFamily="34" charset="0"/>
                <a:ea typeface="Calibri" pitchFamily="34" charset="-122"/>
                <a:cs typeface="Calibri" pitchFamily="34" charset="-120"/>
              </a:rPr>
              <a:t>Giữ lại những phần tử mà điều kiện trả về true. Tương đương for...of + if nhưng ngắn hơn.</a:t>
            </a:r>
            <a:endParaRPr lang="en-US" sz="1300" dirty="0"/>
          </a:p>
        </p:txBody>
      </p:sp>
      <p:sp>
        <p:nvSpPr>
          <p:cNvPr id="14" name="Shape 10"/>
          <p:cNvSpPr/>
          <p:nvPr/>
        </p:nvSpPr>
        <p:spPr>
          <a:xfrm>
            <a:off x="6172200" y="1965960"/>
            <a:ext cx="5440680" cy="3566160"/>
          </a:xfrm>
          <a:prstGeom prst="roundRect">
            <a:avLst>
              <a:gd name="adj" fmla="val 2564"/>
            </a:avLst>
          </a:prstGeom>
          <a:solidFill>
            <a:srgbClr val="FFFFFF"/>
          </a:solidFill>
          <a:ln/>
          <a:effectLst>
            <a:outerShdw blurRad="88900" dist="25400" dir="5400000" algn="bl" rotWithShape="0">
              <a:srgbClr val="000000">
                <a:alpha val="12000"/>
              </a:srgbClr>
            </a:outerShdw>
          </a:effectLst>
        </p:spPr>
        <p:txBody>
          <a:bodyPr/>
          <a:lstStyle/>
          <a:p>
            <a:endParaRPr lang="en-US"/>
          </a:p>
        </p:txBody>
      </p:sp>
      <p:sp>
        <p:nvSpPr>
          <p:cNvPr id="15" name="Shape 11"/>
          <p:cNvSpPr/>
          <p:nvPr/>
        </p:nvSpPr>
        <p:spPr>
          <a:xfrm>
            <a:off x="6492240" y="2286000"/>
            <a:ext cx="685800" cy="685800"/>
          </a:xfrm>
          <a:prstGeom prst="ellipse">
            <a:avLst/>
          </a:prstGeom>
          <a:solidFill>
            <a:srgbClr val="00A896"/>
          </a:solidFill>
          <a:ln/>
        </p:spPr>
        <p:txBody>
          <a:bodyPr/>
          <a:lstStyle/>
          <a:p>
            <a:endParaRPr lang="en-US"/>
          </a:p>
        </p:txBody>
      </p:sp>
      <p:pic>
        <p:nvPicPr>
          <p:cNvPr id="16" name="Image 2" descr="preencoded.png"/>
          <p:cNvPicPr>
            <a:picLocks noChangeAspect="1"/>
          </p:cNvPicPr>
          <p:nvPr/>
        </p:nvPicPr>
        <p:blipFill>
          <a:blip r:embed="rId4"/>
          <a:stretch>
            <a:fillRect/>
          </a:stretch>
        </p:blipFill>
        <p:spPr>
          <a:xfrm>
            <a:off x="6665976" y="2459736"/>
            <a:ext cx="338328" cy="338328"/>
          </a:xfrm>
          <a:prstGeom prst="rect">
            <a:avLst/>
          </a:prstGeom>
        </p:spPr>
      </p:pic>
      <p:sp>
        <p:nvSpPr>
          <p:cNvPr id="17" name="Text 12"/>
          <p:cNvSpPr/>
          <p:nvPr/>
        </p:nvSpPr>
        <p:spPr>
          <a:xfrm>
            <a:off x="7360920" y="2286000"/>
            <a:ext cx="4023360" cy="685800"/>
          </a:xfrm>
          <a:prstGeom prst="rect">
            <a:avLst/>
          </a:prstGeom>
          <a:noFill/>
          <a:ln/>
        </p:spPr>
        <p:txBody>
          <a:bodyPr wrap="square" lIns="0" tIns="0" rIns="0" bIns="0" rtlCol="0" anchor="ctr"/>
          <a:lstStyle/>
          <a:p>
            <a:pPr marL="0" indent="0">
              <a:buNone/>
            </a:pPr>
            <a:r>
              <a:rPr lang="en-US" sz="2000" b="1" dirty="0">
                <a:solidFill>
                  <a:srgbClr val="12343B"/>
                </a:solidFill>
                <a:latin typeface="Cambria" pitchFamily="34" charset="0"/>
                <a:ea typeface="Cambria" pitchFamily="34" charset="-122"/>
                <a:cs typeface="Cambria" pitchFamily="34" charset="-120"/>
              </a:rPr>
              <a:t>map — BIẾN ĐỔI</a:t>
            </a:r>
            <a:endParaRPr lang="en-US" sz="2000" dirty="0"/>
          </a:p>
        </p:txBody>
      </p:sp>
      <p:sp>
        <p:nvSpPr>
          <p:cNvPr id="18" name="Shape 13"/>
          <p:cNvSpPr/>
          <p:nvPr/>
        </p:nvSpPr>
        <p:spPr>
          <a:xfrm>
            <a:off x="6492240" y="3200400"/>
            <a:ext cx="4800600" cy="1234440"/>
          </a:xfrm>
          <a:prstGeom prst="roundRect">
            <a:avLst>
              <a:gd name="adj" fmla="val 5926"/>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19" name="Text 14"/>
          <p:cNvSpPr/>
          <p:nvPr/>
        </p:nvSpPr>
        <p:spPr>
          <a:xfrm>
            <a:off x="6693408" y="3346704"/>
            <a:ext cx="4398264" cy="941832"/>
          </a:xfrm>
          <a:prstGeom prst="rect">
            <a:avLst/>
          </a:prstGeom>
          <a:noFill/>
          <a:ln/>
        </p:spPr>
        <p:txBody>
          <a:bodyPr wrap="square" lIns="0" tIns="0" rIns="0" bIns="0" rtlCol="0" anchor="t"/>
          <a:lstStyle/>
          <a:p>
            <a:pPr marL="0" indent="0" algn="l">
              <a:lnSpc>
                <a:spcPct val="112000"/>
              </a:lnSpc>
              <a:buNone/>
            </a:pPr>
            <a:r>
              <a:rPr lang="en-US" sz="1150" dirty="0">
                <a:solidFill>
                  <a:srgbClr val="9FE8DA"/>
                </a:solidFill>
                <a:latin typeface="Courier New" pitchFamily="34" charset="0"/>
                <a:ea typeface="Courier New" pitchFamily="34" charset="-122"/>
                <a:cs typeface="Courier New" pitchFamily="34" charset="-120"/>
              </a:rPr>
              <a:t>const ids = payments.map(</a:t>
            </a:r>
            <a:endParaRPr lang="en-US" sz="1150" dirty="0"/>
          </a:p>
          <a:p>
            <a:pPr marL="0" indent="0" algn="l">
              <a:lnSpc>
                <a:spcPct val="112000"/>
              </a:lnSpc>
              <a:buNone/>
            </a:pPr>
            <a:r>
              <a:rPr lang="en-US" sz="1150" dirty="0">
                <a:solidFill>
                  <a:srgbClr val="D7E6E6"/>
                </a:solidFill>
                <a:latin typeface="Courier New" pitchFamily="34" charset="0"/>
                <a:ea typeface="Courier New" pitchFamily="34" charset="-122"/>
                <a:cs typeface="Courier New" pitchFamily="34" charset="-120"/>
              </a:rPr>
              <a:t>  p =&gt; p.transactionId</a:t>
            </a:r>
            <a:endParaRPr lang="en-US" sz="1150" dirty="0"/>
          </a:p>
          <a:p>
            <a:pPr marL="0" indent="0" algn="l">
              <a:lnSpc>
                <a:spcPct val="112000"/>
              </a:lnSpc>
              <a:buNone/>
            </a:pPr>
            <a:r>
              <a:rPr lang="en-US" sz="1150" dirty="0">
                <a:solidFill>
                  <a:srgbClr val="9FE8DA"/>
                </a:solidFill>
                <a:latin typeface="Courier New" pitchFamily="34" charset="0"/>
                <a:ea typeface="Courier New" pitchFamily="34" charset="-122"/>
                <a:cs typeface="Courier New" pitchFamily="34" charset="-120"/>
              </a:rPr>
              <a:t>);</a:t>
            </a:r>
            <a:endParaRPr lang="en-US" sz="1150" dirty="0"/>
          </a:p>
          <a:p>
            <a:pPr marL="0" indent="0" algn="l">
              <a:lnSpc>
                <a:spcPct val="112000"/>
              </a:lnSpc>
              <a:buNone/>
            </a:pPr>
            <a:r>
              <a:rPr lang="en-US" sz="1150" dirty="0">
                <a:solidFill>
                  <a:srgbClr val="7F9CA0"/>
                </a:solidFill>
                <a:latin typeface="Courier New" pitchFamily="34" charset="0"/>
                <a:ea typeface="Courier New" pitchFamily="34" charset="-122"/>
                <a:cs typeface="Courier New" pitchFamily="34" charset="-120"/>
              </a:rPr>
              <a:t>// ["TXN001","TXN002","TXN003"]</a:t>
            </a:r>
            <a:endParaRPr lang="en-US" sz="1150" dirty="0"/>
          </a:p>
        </p:txBody>
      </p:sp>
      <p:sp>
        <p:nvSpPr>
          <p:cNvPr id="20" name="Text 15"/>
          <p:cNvSpPr/>
          <p:nvPr/>
        </p:nvSpPr>
        <p:spPr>
          <a:xfrm>
            <a:off x="6492240" y="4572000"/>
            <a:ext cx="4846320" cy="822960"/>
          </a:xfrm>
          <a:prstGeom prst="rect">
            <a:avLst/>
          </a:prstGeom>
          <a:noFill/>
          <a:ln/>
        </p:spPr>
        <p:txBody>
          <a:bodyPr wrap="square" lIns="0" tIns="0" rIns="0" bIns="0" rtlCol="0" anchor="t"/>
          <a:lstStyle/>
          <a:p>
            <a:pPr marL="0" indent="0">
              <a:buNone/>
            </a:pPr>
            <a:r>
              <a:rPr lang="en-US" sz="1300" dirty="0">
                <a:solidFill>
                  <a:srgbClr val="5A7378"/>
                </a:solidFill>
                <a:latin typeface="Calibri" pitchFamily="34" charset="0"/>
                <a:ea typeface="Calibri" pitchFamily="34" charset="-122"/>
                <a:cs typeface="Calibri" pitchFamily="34" charset="-120"/>
              </a:rPr>
              <a:t>“Rút” ra một danh sách mới từ danh sách cũ — mỗi phần tử được biến đổi thành giá trị mới.</a:t>
            </a:r>
            <a:endParaRPr lang="en-US" sz="1300" dirty="0"/>
          </a:p>
        </p:txBody>
      </p:sp>
      <p:sp>
        <p:nvSpPr>
          <p:cNvPr id="21" name="Shape 16"/>
          <p:cNvSpPr/>
          <p:nvPr/>
        </p:nvSpPr>
        <p:spPr>
          <a:xfrm>
            <a:off x="548640" y="5715000"/>
            <a:ext cx="11064240" cy="685800"/>
          </a:xfrm>
          <a:prstGeom prst="roundRect">
            <a:avLst>
              <a:gd name="adj" fmla="val 10667"/>
            </a:avLst>
          </a:prstGeom>
          <a:solidFill>
            <a:srgbClr val="FFF6E5"/>
          </a:solidFill>
          <a:ln/>
        </p:spPr>
        <p:txBody>
          <a:bodyPr/>
          <a:lstStyle/>
          <a:p>
            <a:endParaRPr lang="en-US"/>
          </a:p>
        </p:txBody>
      </p:sp>
      <p:sp>
        <p:nvSpPr>
          <p:cNvPr id="22" name="Text 17"/>
          <p:cNvSpPr/>
          <p:nvPr/>
        </p:nvSpPr>
        <p:spPr>
          <a:xfrm>
            <a:off x="822960" y="5715000"/>
            <a:ext cx="10607040" cy="685800"/>
          </a:xfrm>
          <a:prstGeom prst="rect">
            <a:avLst/>
          </a:prstGeom>
          <a:noFill/>
          <a:ln/>
        </p:spPr>
        <p:txBody>
          <a:bodyPr wrap="square" lIns="0" tIns="0" rIns="0" bIns="0" rtlCol="0" anchor="ctr"/>
          <a:lstStyle/>
          <a:p>
            <a:pPr marL="0" indent="0">
              <a:buNone/>
            </a:pPr>
            <a:r>
              <a:rPr lang="en-US" sz="1350" b="1" dirty="0">
                <a:solidFill>
                  <a:srgbClr val="B57A05"/>
                </a:solidFill>
                <a:latin typeface="Calibri" pitchFamily="34" charset="0"/>
                <a:ea typeface="Calibri" pitchFamily="34" charset="-122"/>
                <a:cs typeface="Calibri" pitchFamily="34" charset="-120"/>
              </a:rPr>
              <a:t>Ghi nhớ:  </a:t>
            </a:r>
            <a:r>
              <a:rPr lang="en-US" sz="1350" dirty="0">
                <a:solidFill>
                  <a:srgbClr val="12343B"/>
                </a:solidFill>
                <a:latin typeface="Calibri" pitchFamily="34" charset="0"/>
                <a:ea typeface="Calibri" pitchFamily="34" charset="-122"/>
                <a:cs typeface="Calibri" pitchFamily="34" charset="-120"/>
              </a:rPr>
              <a:t>filter = lọc (giữ lại một số phần tử)   ·   map = biến đổi (tạo danh sách mới). map/filter sẽ luyện kỹ ở buổi nâng cao.</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502920" y="457200"/>
            <a:ext cx="658368" cy="658368"/>
          </a:xfrm>
          <a:prstGeom prst="ellipse">
            <a:avLst/>
          </a:prstGeom>
          <a:solidFill>
            <a:srgbClr val="028090"/>
          </a:solidFill>
          <a:ln/>
          <a:effectLst>
            <a:outerShdw blurRad="88900" dist="25400" dir="5400000" algn="bl" rotWithShape="0">
              <a:srgbClr val="000000">
                <a:alpha val="1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612648"/>
            <a:ext cx="347472" cy="347472"/>
          </a:xfrm>
          <a:prstGeom prst="rect">
            <a:avLst/>
          </a:prstGeom>
        </p:spPr>
      </p:pic>
      <p:sp>
        <p:nvSpPr>
          <p:cNvPr id="4" name="Text 1"/>
          <p:cNvSpPr/>
          <p:nvPr/>
        </p:nvSpPr>
        <p:spPr>
          <a:xfrm>
            <a:off x="1325880" y="457200"/>
            <a:ext cx="9601200" cy="658368"/>
          </a:xfrm>
          <a:prstGeom prst="rect">
            <a:avLst/>
          </a:prstGeom>
          <a:noFill/>
          <a:ln/>
        </p:spPr>
        <p:txBody>
          <a:bodyPr wrap="square" lIns="0" tIns="0" rIns="0" bIns="0" rtlCol="0" anchor="ctr"/>
          <a:lstStyle/>
          <a:p>
            <a:pPr marL="0" indent="0">
              <a:buNone/>
            </a:pPr>
            <a:r>
              <a:rPr lang="en-US" sz="2700" b="1" dirty="0">
                <a:solidFill>
                  <a:srgbClr val="12343B"/>
                </a:solidFill>
                <a:latin typeface="Calibri" pitchFamily="34" charset="0"/>
                <a:ea typeface="Calibri" pitchFamily="34" charset="-122"/>
                <a:cs typeface="Calibri" pitchFamily="34" charset="-120"/>
              </a:rPr>
              <a:t>Import / Export Module</a:t>
            </a:r>
            <a:endParaRPr lang="en-US" sz="2700" dirty="0"/>
          </a:p>
        </p:txBody>
      </p:sp>
      <p:sp>
        <p:nvSpPr>
          <p:cNvPr id="5" name="Text 2"/>
          <p:cNvSpPr/>
          <p:nvPr/>
        </p:nvSpPr>
        <p:spPr>
          <a:xfrm>
            <a:off x="10241280" y="548640"/>
            <a:ext cx="1417320" cy="457200"/>
          </a:xfrm>
          <a:prstGeom prst="rect">
            <a:avLst/>
          </a:prstGeom>
          <a:noFill/>
          <a:ln/>
        </p:spPr>
        <p:txBody>
          <a:bodyPr wrap="square" rtlCol="0" anchor="ctr"/>
          <a:lstStyle/>
          <a:p>
            <a:pPr marL="0" indent="0" algn="r">
              <a:buNone/>
            </a:pPr>
            <a:r>
              <a:rPr lang="en-US" sz="1200" b="1" kern="0" spc="200" dirty="0">
                <a:solidFill>
                  <a:srgbClr val="00A896"/>
                </a:solidFill>
                <a:latin typeface="Calibri" pitchFamily="34" charset="0"/>
                <a:ea typeface="Calibri" pitchFamily="34" charset="-122"/>
                <a:cs typeface="Calibri" pitchFamily="34" charset="-120"/>
              </a:rPr>
              <a:t>BÀI 5</a:t>
            </a:r>
            <a:endParaRPr lang="en-US" sz="1200" dirty="0"/>
          </a:p>
        </p:txBody>
      </p:sp>
      <p:sp>
        <p:nvSpPr>
          <p:cNvPr id="6" name="Text 3"/>
          <p:cNvSpPr/>
          <p:nvPr/>
        </p:nvSpPr>
        <p:spPr>
          <a:xfrm>
            <a:off x="548640" y="1371600"/>
            <a:ext cx="11064240" cy="457200"/>
          </a:xfrm>
          <a:prstGeom prst="rect">
            <a:avLst/>
          </a:prstGeom>
          <a:noFill/>
          <a:ln/>
        </p:spPr>
        <p:txBody>
          <a:bodyPr wrap="square" rtlCol="0" anchor="ctr"/>
          <a:lstStyle/>
          <a:p>
            <a:pPr marL="0" indent="0">
              <a:buNone/>
            </a:pPr>
            <a:r>
              <a:rPr lang="en-US" sz="1500" dirty="0">
                <a:solidFill>
                  <a:srgbClr val="5A7378"/>
                </a:solidFill>
                <a:latin typeface="Calibri" pitchFamily="34" charset="0"/>
                <a:ea typeface="Calibri" pitchFamily="34" charset="-122"/>
                <a:cs typeface="Calibri" pitchFamily="34" charset="-120"/>
              </a:rPr>
              <a:t>Dự án lớn dần — tách type và dữ liệu ra file riêng rồi import vào file chính. Nền tảng tổ chức framework automation.</a:t>
            </a:r>
            <a:endParaRPr lang="en-US" sz="1500" dirty="0"/>
          </a:p>
        </p:txBody>
      </p:sp>
      <p:sp>
        <p:nvSpPr>
          <p:cNvPr id="7" name="Shape 4"/>
          <p:cNvSpPr/>
          <p:nvPr/>
        </p:nvSpPr>
        <p:spPr>
          <a:xfrm>
            <a:off x="548640" y="1965960"/>
            <a:ext cx="5486400" cy="1965960"/>
          </a:xfrm>
          <a:prstGeom prst="roundRect">
            <a:avLst>
              <a:gd name="adj" fmla="val 3721"/>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8" name="Text 5"/>
          <p:cNvSpPr/>
          <p:nvPr/>
        </p:nvSpPr>
        <p:spPr>
          <a:xfrm>
            <a:off x="749808" y="2112264"/>
            <a:ext cx="5084064" cy="1673352"/>
          </a:xfrm>
          <a:prstGeom prst="rect">
            <a:avLst/>
          </a:prstGeom>
          <a:noFill/>
          <a:ln/>
        </p:spPr>
        <p:txBody>
          <a:bodyPr wrap="square" lIns="0" tIns="0" rIns="0" bIns="0" rtlCol="0" anchor="t"/>
          <a:lstStyle/>
          <a:p>
            <a:pPr marL="0" indent="0" algn="l">
              <a:lnSpc>
                <a:spcPct val="112000"/>
              </a:lnSpc>
              <a:buNone/>
            </a:pPr>
            <a:r>
              <a:rPr lang="en-US" sz="1250" dirty="0">
                <a:solidFill>
                  <a:srgbClr val="7F9CA0"/>
                </a:solidFill>
                <a:latin typeface="Courier New" pitchFamily="34" charset="0"/>
                <a:ea typeface="Courier New" pitchFamily="34" charset="-122"/>
                <a:cs typeface="Courier New" pitchFamily="34" charset="-120"/>
              </a:rPr>
              <a:t>// paymentData.ts</a:t>
            </a: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export type PaymentData = { ... };</a:t>
            </a:r>
            <a:endParaRPr lang="en-US" sz="1250" dirty="0"/>
          </a:p>
          <a:p>
            <a:pPr marL="0" indent="0" algn="l">
              <a:lnSpc>
                <a:spcPct val="112000"/>
              </a:lnSpc>
              <a:buNone/>
            </a:pPr>
            <a:r>
              <a:rPr lang="en-US" sz="1250" dirty="0">
                <a:solidFill>
                  <a:srgbClr val="9FE8DA"/>
                </a:solidFill>
                <a:latin typeface="Courier New" pitchFamily="34" charset="0"/>
                <a:ea typeface="Courier New" pitchFamily="34" charset="-122"/>
                <a:cs typeface="Courier New" pitchFamily="34" charset="-120"/>
              </a:rPr>
              <a:t>export const payments:</a:t>
            </a:r>
            <a:endParaRPr lang="en-US" sz="1250" dirty="0"/>
          </a:p>
          <a:p>
            <a:pPr marL="0" indent="0" algn="l">
              <a:lnSpc>
                <a:spcPct val="112000"/>
              </a:lnSpc>
              <a:buNone/>
            </a:pPr>
            <a:r>
              <a:rPr lang="en-US" sz="1250" dirty="0">
                <a:solidFill>
                  <a:srgbClr val="9FE8DA"/>
                </a:solidFill>
                <a:latin typeface="Courier New" pitchFamily="34" charset="0"/>
                <a:ea typeface="Courier New" pitchFamily="34" charset="-122"/>
                <a:cs typeface="Courier New" pitchFamily="34" charset="-120"/>
              </a:rPr>
              <a:t>  PaymentData[] = [ ... ];</a:t>
            </a:r>
            <a:endParaRPr lang="en-US" sz="1250" dirty="0"/>
          </a:p>
        </p:txBody>
      </p:sp>
      <p:sp>
        <p:nvSpPr>
          <p:cNvPr id="9" name="Shape 6"/>
          <p:cNvSpPr/>
          <p:nvPr/>
        </p:nvSpPr>
        <p:spPr>
          <a:xfrm>
            <a:off x="548640" y="4069080"/>
            <a:ext cx="5486400" cy="1463040"/>
          </a:xfrm>
          <a:prstGeom prst="roundRect">
            <a:avLst>
              <a:gd name="adj" fmla="val 5000"/>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10" name="Text 7"/>
          <p:cNvSpPr/>
          <p:nvPr/>
        </p:nvSpPr>
        <p:spPr>
          <a:xfrm>
            <a:off x="749808" y="4215384"/>
            <a:ext cx="5084064" cy="1170432"/>
          </a:xfrm>
          <a:prstGeom prst="rect">
            <a:avLst/>
          </a:prstGeom>
          <a:noFill/>
          <a:ln/>
        </p:spPr>
        <p:txBody>
          <a:bodyPr wrap="square" lIns="0" tIns="0" rIns="0" bIns="0" rtlCol="0" anchor="t"/>
          <a:lstStyle/>
          <a:p>
            <a:pPr marL="0" indent="0" algn="l">
              <a:lnSpc>
                <a:spcPct val="112000"/>
              </a:lnSpc>
              <a:buNone/>
            </a:pPr>
            <a:r>
              <a:rPr lang="en-US" sz="1250" dirty="0">
                <a:solidFill>
                  <a:srgbClr val="7F9CA0"/>
                </a:solidFill>
                <a:latin typeface="Courier New" pitchFamily="34" charset="0"/>
                <a:ea typeface="Courier New" pitchFamily="34" charset="-122"/>
                <a:cs typeface="Courier New" pitchFamily="34" charset="-120"/>
              </a:rPr>
              <a:t>// main.ts</a:t>
            </a: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import { PaymentData, payments }</a:t>
            </a:r>
            <a:endParaRPr lang="en-US" sz="1250" dirty="0"/>
          </a:p>
          <a:p>
            <a:pPr marL="0" indent="0" algn="l">
              <a:lnSpc>
                <a:spcPct val="112000"/>
              </a:lnSpc>
              <a:buNone/>
            </a:pPr>
            <a:r>
              <a:rPr lang="en-US" sz="1250" dirty="0">
                <a:solidFill>
                  <a:srgbClr val="F5C97B"/>
                </a:solidFill>
                <a:latin typeface="Courier New" pitchFamily="34" charset="0"/>
                <a:ea typeface="Courier New" pitchFamily="34" charset="-122"/>
                <a:cs typeface="Courier New" pitchFamily="34" charset="-120"/>
              </a:rPr>
              <a:t>  from "./paymentData";</a:t>
            </a:r>
            <a:endParaRPr lang="en-US" sz="1250" dirty="0"/>
          </a:p>
        </p:txBody>
      </p:sp>
      <p:sp>
        <p:nvSpPr>
          <p:cNvPr id="11" name="Text 8"/>
          <p:cNvSpPr/>
          <p:nvPr/>
        </p:nvSpPr>
        <p:spPr>
          <a:xfrm>
            <a:off x="6309360" y="1965960"/>
            <a:ext cx="5303520" cy="36576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Named vs Default export</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309360" y="2377440"/>
          <a:ext cx="530352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457200">
                <a:tc>
                  <a:txBody>
                    <a:bodyPr/>
                    <a:lstStyle/>
                    <a:p>
                      <a:pPr marL="0" indent="0" algn="l">
                        <a:buNone/>
                      </a:pP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028090"/>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Named</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028090"/>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Default</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457200">
                <a:tc>
                  <a:txBody>
                    <a:bodyPr/>
                    <a:lstStyle/>
                    <a:p>
                      <a:pPr marL="0" indent="0" algn="l">
                        <a:buNone/>
                      </a:pPr>
                      <a:r>
                        <a:rPr lang="en-US" sz="1250" b="1" dirty="0">
                          <a:solidFill>
                            <a:srgbClr val="12343B"/>
                          </a:solidFill>
                          <a:latin typeface="Calibri" pitchFamily="34" charset="0"/>
                          <a:ea typeface="Calibri" pitchFamily="34" charset="-122"/>
                          <a:cs typeface="Calibri" pitchFamily="34" charset="-120"/>
                        </a:rPr>
                        <a:t>SL / file</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2343B"/>
                          </a:solidFill>
                          <a:latin typeface="Calibri" pitchFamily="34" charset="0"/>
                          <a:ea typeface="Calibri" pitchFamily="34" charset="-122"/>
                          <a:cs typeface="Calibri" pitchFamily="34" charset="-120"/>
                        </a:rPr>
                        <a:t>Nhiều</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2343B"/>
                          </a:solidFill>
                          <a:latin typeface="Calibri" pitchFamily="34" charset="0"/>
                          <a:ea typeface="Calibri" pitchFamily="34" charset="-122"/>
                          <a:cs typeface="Calibri" pitchFamily="34" charset="-120"/>
                        </a:rPr>
                        <a:t>Chỉ một</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b="1" dirty="0">
                          <a:solidFill>
                            <a:srgbClr val="12343B"/>
                          </a:solidFill>
                          <a:latin typeface="Calibri" pitchFamily="34" charset="0"/>
                          <a:ea typeface="Calibri" pitchFamily="34" charset="-122"/>
                          <a:cs typeface="Calibri" pitchFamily="34" charset="-120"/>
                        </a:rPr>
                        <a:t>Import</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2343B"/>
                          </a:solidFill>
                          <a:latin typeface="Calibri" pitchFamily="34" charset="0"/>
                          <a:ea typeface="Calibri" pitchFamily="34" charset="-122"/>
                          <a:cs typeface="Calibri" pitchFamily="34" charset="-120"/>
                        </a:rPr>
                        <a:t>import { A }</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2343B"/>
                          </a:solidFill>
                          <a:latin typeface="Calibri" pitchFamily="34" charset="0"/>
                          <a:ea typeface="Calibri" pitchFamily="34" charset="-122"/>
                          <a:cs typeface="Calibri" pitchFamily="34" charset="-120"/>
                        </a:rPr>
                        <a:t>import A</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250" b="1" dirty="0">
                          <a:solidFill>
                            <a:srgbClr val="12343B"/>
                          </a:solidFill>
                          <a:latin typeface="Calibri" pitchFamily="34" charset="0"/>
                          <a:ea typeface="Calibri" pitchFamily="34" charset="-122"/>
                          <a:cs typeface="Calibri" pitchFamily="34" charset="-120"/>
                        </a:rPr>
                        <a:t>Đổi tên</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2343B"/>
                          </a:solidFill>
                          <a:latin typeface="Calibri" pitchFamily="34" charset="0"/>
                          <a:ea typeface="Calibri" pitchFamily="34" charset="-122"/>
                          <a:cs typeface="Calibri" pitchFamily="34" charset="-120"/>
                        </a:rPr>
                        <a:t>cần as</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2343B"/>
                          </a:solidFill>
                          <a:latin typeface="Calibri" pitchFamily="34" charset="0"/>
                          <a:ea typeface="Calibri" pitchFamily="34" charset="-122"/>
                          <a:cs typeface="Calibri" pitchFamily="34" charset="-120"/>
                        </a:rPr>
                        <a:t>tự do</a:t>
                      </a:r>
                      <a:endParaRPr lang="en-US" sz="1250" dirty="0">
                        <a:latin typeface="Calibri" charset="0"/>
                        <a:ea typeface="Calibri" charset="0"/>
                        <a:cs typeface="Calibri" charset="0"/>
                      </a:endParaRPr>
                    </a:p>
                  </a:txBody>
                  <a:tcPr marL="76200" marR="76200" marT="25400" marB="25400" anchor="ctr">
                    <a:lnL w="6350" cap="flat" cmpd="sng" algn="ctr">
                      <a:solidFill>
                        <a:srgbClr val="D7E3E3"/>
                      </a:solidFill>
                      <a:prstDash val="solid"/>
                      <a:round/>
                      <a:headEnd type="none" w="med" len="med"/>
                      <a:tailEnd type="none" w="med" len="med"/>
                    </a:lnL>
                    <a:lnR w="6350" cap="flat" cmpd="sng" algn="ctr">
                      <a:solidFill>
                        <a:srgbClr val="D7E3E3"/>
                      </a:solidFill>
                      <a:prstDash val="solid"/>
                      <a:round/>
                      <a:headEnd type="none" w="med" len="med"/>
                      <a:tailEnd type="none" w="med" len="med"/>
                    </a:lnR>
                    <a:lnT w="6350" cap="flat" cmpd="sng" algn="ctr">
                      <a:solidFill>
                        <a:srgbClr val="D7E3E3"/>
                      </a:solidFill>
                      <a:prstDash val="solid"/>
                      <a:round/>
                      <a:headEnd type="none" w="med" len="med"/>
                      <a:tailEnd type="none" w="med" len="med"/>
                    </a:lnT>
                    <a:lnB w="6350" cap="flat" cmpd="sng" algn="ctr">
                      <a:solidFill>
                        <a:srgbClr val="D7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Shape 9"/>
          <p:cNvSpPr/>
          <p:nvPr/>
        </p:nvSpPr>
        <p:spPr>
          <a:xfrm>
            <a:off x="6309360" y="4572000"/>
            <a:ext cx="5303520" cy="960120"/>
          </a:xfrm>
          <a:prstGeom prst="roundRect">
            <a:avLst>
              <a:gd name="adj" fmla="val 7619"/>
            </a:avLst>
          </a:prstGeom>
          <a:solidFill>
            <a:srgbClr val="E4F4F1"/>
          </a:solidFill>
          <a:ln/>
        </p:spPr>
        <p:txBody>
          <a:bodyPr/>
          <a:lstStyle/>
          <a:p>
            <a:endParaRPr lang="en-US"/>
          </a:p>
        </p:txBody>
      </p:sp>
      <p:sp>
        <p:nvSpPr>
          <p:cNvPr id="14" name="Text 10"/>
          <p:cNvSpPr/>
          <p:nvPr/>
        </p:nvSpPr>
        <p:spPr>
          <a:xfrm>
            <a:off x="6537960" y="4572000"/>
            <a:ext cx="4892040" cy="960120"/>
          </a:xfrm>
          <a:prstGeom prst="rect">
            <a:avLst/>
          </a:prstGeom>
          <a:noFill/>
          <a:ln/>
        </p:spPr>
        <p:txBody>
          <a:bodyPr wrap="square" lIns="0" tIns="0" rIns="0" bIns="0"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Trong khóa học:  </a:t>
            </a:r>
            <a:r>
              <a:rPr lang="en-US" sz="1300" dirty="0">
                <a:solidFill>
                  <a:srgbClr val="12343B"/>
                </a:solidFill>
                <a:latin typeface="Calibri" pitchFamily="34" charset="0"/>
                <a:ea typeface="Calibri" pitchFamily="34" charset="-122"/>
                <a:cs typeface="Calibri" pitchFamily="34" charset="-120"/>
              </a:rPr>
              <a:t>chủ yếu dùng named export để tách type và dữ liệu test — một file thường chứa nhiều thứ liên quan.</a:t>
            </a:r>
            <a:endParaRPr lang="en-US" sz="1300" dirty="0"/>
          </a:p>
        </p:txBody>
      </p:sp>
      <p:sp>
        <p:nvSpPr>
          <p:cNvPr id="15" name="Shape 11"/>
          <p:cNvSpPr/>
          <p:nvPr/>
        </p:nvSpPr>
        <p:spPr>
          <a:xfrm>
            <a:off x="548640" y="5715000"/>
            <a:ext cx="5486400" cy="685800"/>
          </a:xfrm>
          <a:prstGeom prst="roundRect">
            <a:avLst>
              <a:gd name="adj" fmla="val 10667"/>
            </a:avLst>
          </a:prstGeom>
          <a:solidFill>
            <a:srgbClr val="FFF6E5"/>
          </a:solidFill>
          <a:ln/>
        </p:spPr>
        <p:txBody>
          <a:bodyPr/>
          <a:lstStyle/>
          <a:p>
            <a:endParaRPr lang="en-US"/>
          </a:p>
        </p:txBody>
      </p:sp>
      <p:sp>
        <p:nvSpPr>
          <p:cNvPr id="16" name="Text 12"/>
          <p:cNvSpPr/>
          <p:nvPr/>
        </p:nvSpPr>
        <p:spPr>
          <a:xfrm>
            <a:off x="777240" y="5715000"/>
            <a:ext cx="5029200" cy="685800"/>
          </a:xfrm>
          <a:prstGeom prst="rect">
            <a:avLst/>
          </a:prstGeom>
          <a:noFill/>
          <a:ln/>
        </p:spPr>
        <p:txBody>
          <a:bodyPr wrap="square" lIns="0" tIns="0" rIns="0" bIns="0" rtlCol="0" anchor="ctr"/>
          <a:lstStyle/>
          <a:p>
            <a:pPr marL="0" indent="0">
              <a:buNone/>
            </a:pPr>
            <a:r>
              <a:rPr lang="en-US" sz="1250" b="1" dirty="0">
                <a:solidFill>
                  <a:srgbClr val="B57A05"/>
                </a:solidFill>
                <a:latin typeface="Calibri" pitchFamily="34" charset="0"/>
                <a:ea typeface="Calibri" pitchFamily="34" charset="-122"/>
                <a:cs typeface="Calibri" pitchFamily="34" charset="-120"/>
              </a:rPr>
              <a:t>Lưu ý đường dẫn:  </a:t>
            </a:r>
            <a:r>
              <a:rPr lang="en-US" sz="1250" dirty="0">
                <a:solidFill>
                  <a:srgbClr val="12343B"/>
                </a:solidFill>
                <a:latin typeface="Calibri" pitchFamily="34" charset="0"/>
                <a:ea typeface="Calibri" pitchFamily="34" charset="-122"/>
                <a:cs typeface="Calibri" pitchFamily="34" charset="-120"/>
              </a:rPr>
              <a:t>"./" là bắt buộc, KHÔNG viết đuôi .ts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E33"/>
        </a:solidFill>
        <a:effectLst/>
      </p:bgPr>
    </p:bg>
    <p:spTree>
      <p:nvGrpSpPr>
        <p:cNvPr id="1" name=""/>
        <p:cNvGrpSpPr/>
        <p:nvPr/>
      </p:nvGrpSpPr>
      <p:grpSpPr>
        <a:xfrm>
          <a:off x="0" y="0"/>
          <a:ext cx="0" cy="0"/>
          <a:chOff x="0" y="0"/>
          <a:chExt cx="0" cy="0"/>
        </a:xfrm>
      </p:grpSpPr>
      <p:sp>
        <p:nvSpPr>
          <p:cNvPr id="2" name="Shape 0"/>
          <p:cNvSpPr/>
          <p:nvPr/>
        </p:nvSpPr>
        <p:spPr>
          <a:xfrm>
            <a:off x="502920" y="457200"/>
            <a:ext cx="658368" cy="658368"/>
          </a:xfrm>
          <a:prstGeom prst="ellipse">
            <a:avLst/>
          </a:prstGeom>
          <a:solidFill>
            <a:srgbClr val="EF4444"/>
          </a:solidFill>
          <a:ln/>
          <a:effectLst>
            <a:outerShdw blurRad="88900" dist="25400" dir="5400000" algn="bl" rotWithShape="0">
              <a:srgbClr val="000000">
                <a:alpha val="1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621792"/>
            <a:ext cx="347472" cy="329184"/>
          </a:xfrm>
          <a:prstGeom prst="rect">
            <a:avLst/>
          </a:prstGeom>
        </p:spPr>
      </p:pic>
      <p:sp>
        <p:nvSpPr>
          <p:cNvPr id="4" name="Text 1"/>
          <p:cNvSpPr/>
          <p:nvPr/>
        </p:nvSpPr>
        <p:spPr>
          <a:xfrm>
            <a:off x="1325880" y="457200"/>
            <a:ext cx="9418320" cy="65836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Khái niệm any — vì sao nên tránh lạm dụng</a:t>
            </a:r>
            <a:endParaRPr lang="en-US" sz="2600" dirty="0"/>
          </a:p>
        </p:txBody>
      </p:sp>
      <p:sp>
        <p:nvSpPr>
          <p:cNvPr id="5" name="Text 2"/>
          <p:cNvSpPr/>
          <p:nvPr/>
        </p:nvSpPr>
        <p:spPr>
          <a:xfrm>
            <a:off x="10241280" y="548640"/>
            <a:ext cx="1417320" cy="457200"/>
          </a:xfrm>
          <a:prstGeom prst="rect">
            <a:avLst/>
          </a:prstGeom>
          <a:noFill/>
          <a:ln/>
        </p:spPr>
        <p:txBody>
          <a:bodyPr wrap="square" rtlCol="0" anchor="ctr"/>
          <a:lstStyle/>
          <a:p>
            <a:pPr marL="0" indent="0" algn="r">
              <a:buNone/>
            </a:pPr>
            <a:r>
              <a:rPr lang="en-US" sz="1200" b="1" kern="0" spc="200" dirty="0">
                <a:solidFill>
                  <a:srgbClr val="02C39A"/>
                </a:solidFill>
                <a:latin typeface="Calibri" pitchFamily="34" charset="0"/>
                <a:ea typeface="Calibri" pitchFamily="34" charset="-122"/>
                <a:cs typeface="Calibri" pitchFamily="34" charset="-120"/>
              </a:rPr>
              <a:t>BÀI 6</a:t>
            </a:r>
            <a:endParaRPr lang="en-US" sz="1200" dirty="0"/>
          </a:p>
        </p:txBody>
      </p:sp>
      <p:sp>
        <p:nvSpPr>
          <p:cNvPr id="6" name="Text 3"/>
          <p:cNvSpPr/>
          <p:nvPr/>
        </p:nvSpPr>
        <p:spPr>
          <a:xfrm>
            <a:off x="548640" y="1417320"/>
            <a:ext cx="11064240" cy="50292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any</a:t>
            </a:r>
            <a:r>
              <a:rPr lang="en-US" sz="1500" dirty="0">
                <a:solidFill>
                  <a:srgbClr val="CFE3E3"/>
                </a:solidFill>
                <a:latin typeface="Calibri" pitchFamily="34" charset="0"/>
                <a:ea typeface="Calibri" pitchFamily="34" charset="-122"/>
                <a:cs typeface="Calibri" pitchFamily="34" charset="-120"/>
              </a:rPr>
              <a:t> = "kiểu gì cũng được". Khi một biến là any, TypeScript </a:t>
            </a:r>
            <a:r>
              <a:rPr lang="en-US" sz="1500" b="1" dirty="0">
                <a:solidFill>
                  <a:srgbClr val="FFFFFF"/>
                </a:solidFill>
                <a:latin typeface="Calibri" pitchFamily="34" charset="0"/>
                <a:ea typeface="Calibri" pitchFamily="34" charset="-122"/>
                <a:cs typeface="Calibri" pitchFamily="34" charset="-120"/>
              </a:rPr>
              <a:t>tắt toàn bộ</a:t>
            </a:r>
            <a:r>
              <a:rPr lang="en-US" sz="1500" dirty="0">
                <a:solidFill>
                  <a:srgbClr val="CFE3E3"/>
                </a:solidFill>
                <a:latin typeface="Calibri" pitchFamily="34" charset="0"/>
                <a:ea typeface="Calibri" pitchFamily="34" charset="-122"/>
                <a:cs typeface="Calibri" pitchFamily="34" charset="-120"/>
              </a:rPr>
              <a:t> cơ chế kiểm tra kiểu cho biến đó.</a:t>
            </a:r>
            <a:endParaRPr lang="en-US" sz="1500" dirty="0"/>
          </a:p>
        </p:txBody>
      </p:sp>
      <p:sp>
        <p:nvSpPr>
          <p:cNvPr id="7" name="Text 4"/>
          <p:cNvSpPr/>
          <p:nvPr/>
        </p:nvSpPr>
        <p:spPr>
          <a:xfrm>
            <a:off x="548640" y="2103120"/>
            <a:ext cx="5394960" cy="365760"/>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Với any — lỗi lọt qua</a:t>
            </a:r>
            <a:endParaRPr lang="en-US" sz="1400" dirty="0"/>
          </a:p>
        </p:txBody>
      </p:sp>
      <p:sp>
        <p:nvSpPr>
          <p:cNvPr id="8" name="Shape 5"/>
          <p:cNvSpPr/>
          <p:nvPr/>
        </p:nvSpPr>
        <p:spPr>
          <a:xfrm>
            <a:off x="548640" y="2514600"/>
            <a:ext cx="5440680" cy="2148840"/>
          </a:xfrm>
          <a:prstGeom prst="roundRect">
            <a:avLst>
              <a:gd name="adj" fmla="val 3404"/>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9" name="Text 6"/>
          <p:cNvSpPr/>
          <p:nvPr/>
        </p:nvSpPr>
        <p:spPr>
          <a:xfrm>
            <a:off x="749808" y="2660904"/>
            <a:ext cx="5038344" cy="1856232"/>
          </a:xfrm>
          <a:prstGeom prst="rect">
            <a:avLst/>
          </a:prstGeom>
          <a:noFill/>
          <a:ln/>
        </p:spPr>
        <p:txBody>
          <a:bodyPr wrap="square" lIns="0" tIns="0" rIns="0" bIns="0" rtlCol="0" anchor="t"/>
          <a:lstStyle/>
          <a:p>
            <a:pPr marL="0" indent="0" algn="l">
              <a:lnSpc>
                <a:spcPct val="112000"/>
              </a:lnSpc>
              <a:buNone/>
            </a:pPr>
            <a:r>
              <a:rPr lang="en-US" sz="1250" dirty="0">
                <a:solidFill>
                  <a:srgbClr val="9FE8DA"/>
                </a:solidFill>
                <a:latin typeface="Courier New" pitchFamily="34" charset="0"/>
                <a:ea typeface="Courier New" pitchFamily="34" charset="-122"/>
                <a:cs typeface="Courier New" pitchFamily="34" charset="-120"/>
              </a:rPr>
              <a:t>let payment: any =</a:t>
            </a:r>
            <a:endParaRPr lang="en-US" sz="1250" dirty="0"/>
          </a:p>
          <a:p>
            <a:pPr marL="0" indent="0" algn="l">
              <a:lnSpc>
                <a:spcPct val="112000"/>
              </a:lnSpc>
              <a:buNone/>
            </a:pPr>
            <a:r>
              <a:rPr lang="en-US" sz="1250" dirty="0">
                <a:solidFill>
                  <a:srgbClr val="9FE8DA"/>
                </a:solidFill>
                <a:latin typeface="Courier New" pitchFamily="34" charset="0"/>
                <a:ea typeface="Courier New" pitchFamily="34" charset="-122"/>
                <a:cs typeface="Courier New" pitchFamily="34" charset="-120"/>
              </a:rPr>
              <a:t>  { amount: 500000 };</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D7E6E6"/>
                </a:solidFill>
                <a:latin typeface="Courier New" pitchFamily="34" charset="0"/>
                <a:ea typeface="Courier New" pitchFamily="34" charset="-122"/>
                <a:cs typeface="Courier New" pitchFamily="34" charset="-120"/>
              </a:rPr>
              <a:t>console.log(payment.amout);</a:t>
            </a:r>
            <a:endParaRPr lang="en-US" sz="1250" dirty="0"/>
          </a:p>
          <a:p>
            <a:pPr marL="0" indent="0" algn="l">
              <a:lnSpc>
                <a:spcPct val="112000"/>
              </a:lnSpc>
              <a:buNone/>
            </a:pPr>
            <a:r>
              <a:rPr lang="en-US" sz="1250" dirty="0">
                <a:solidFill>
                  <a:srgbClr val="EE8888"/>
                </a:solidFill>
                <a:latin typeface="Courier New" pitchFamily="34" charset="0"/>
                <a:ea typeface="Courier New" pitchFamily="34" charset="-122"/>
                <a:cs typeface="Courier New" pitchFamily="34" charset="-120"/>
              </a:rPr>
              <a:t>// ❌ gõ sai nhưng KHÔNG</a:t>
            </a:r>
            <a:endParaRPr lang="en-US" sz="1250" dirty="0"/>
          </a:p>
          <a:p>
            <a:pPr marL="0" indent="0" algn="l">
              <a:lnSpc>
                <a:spcPct val="112000"/>
              </a:lnSpc>
              <a:buNone/>
            </a:pPr>
            <a:r>
              <a:rPr lang="en-US" sz="1250" dirty="0">
                <a:solidFill>
                  <a:srgbClr val="EE8888"/>
                </a:solidFill>
                <a:latin typeface="Courier New" pitchFamily="34" charset="0"/>
                <a:ea typeface="Courier New" pitchFamily="34" charset="-122"/>
                <a:cs typeface="Courier New" pitchFamily="34" charset="-120"/>
              </a:rPr>
              <a:t>//    báo lỗi → undefined</a:t>
            </a:r>
            <a:endParaRPr lang="en-US" sz="1250" dirty="0"/>
          </a:p>
        </p:txBody>
      </p:sp>
      <p:sp>
        <p:nvSpPr>
          <p:cNvPr id="10" name="Text 7"/>
          <p:cNvSpPr/>
          <p:nvPr/>
        </p:nvSpPr>
        <p:spPr>
          <a:xfrm>
            <a:off x="6172200" y="2103120"/>
            <a:ext cx="5394960" cy="365760"/>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Với type rõ ràng — báo lỗi ngay</a:t>
            </a:r>
            <a:endParaRPr lang="en-US" sz="1400" dirty="0"/>
          </a:p>
        </p:txBody>
      </p:sp>
      <p:sp>
        <p:nvSpPr>
          <p:cNvPr id="11" name="Shape 8"/>
          <p:cNvSpPr/>
          <p:nvPr/>
        </p:nvSpPr>
        <p:spPr>
          <a:xfrm>
            <a:off x="6172200" y="2514600"/>
            <a:ext cx="5440680" cy="2148840"/>
          </a:xfrm>
          <a:prstGeom prst="roundRect">
            <a:avLst>
              <a:gd name="adj" fmla="val 3404"/>
            </a:avLst>
          </a:prstGeom>
          <a:solidFill>
            <a:srgbClr val="10262B"/>
          </a:solidFill>
          <a:ln/>
          <a:effectLst>
            <a:outerShdw blurRad="88900" dist="25400" dir="5400000" algn="bl" rotWithShape="0">
              <a:srgbClr val="000000">
                <a:alpha val="12000"/>
              </a:srgbClr>
            </a:outerShdw>
          </a:effectLst>
        </p:spPr>
        <p:txBody>
          <a:bodyPr/>
          <a:lstStyle/>
          <a:p>
            <a:endParaRPr lang="en-US"/>
          </a:p>
        </p:txBody>
      </p:sp>
      <p:sp>
        <p:nvSpPr>
          <p:cNvPr id="12" name="Text 9"/>
          <p:cNvSpPr/>
          <p:nvPr/>
        </p:nvSpPr>
        <p:spPr>
          <a:xfrm>
            <a:off x="6373368" y="2660904"/>
            <a:ext cx="5038344" cy="1856232"/>
          </a:xfrm>
          <a:prstGeom prst="rect">
            <a:avLst/>
          </a:prstGeom>
          <a:noFill/>
          <a:ln/>
        </p:spPr>
        <p:txBody>
          <a:bodyPr wrap="square" lIns="0" tIns="0" rIns="0" bIns="0" rtlCol="0" anchor="t"/>
          <a:lstStyle/>
          <a:p>
            <a:pPr marL="0" indent="0" algn="l">
              <a:lnSpc>
                <a:spcPct val="112000"/>
              </a:lnSpc>
              <a:buNone/>
            </a:pPr>
            <a:r>
              <a:rPr lang="en-US" sz="1250" dirty="0">
                <a:solidFill>
                  <a:srgbClr val="9FE8DA"/>
                </a:solidFill>
                <a:latin typeface="Courier New" pitchFamily="34" charset="0"/>
                <a:ea typeface="Courier New" pitchFamily="34" charset="-122"/>
                <a:cs typeface="Courier New" pitchFamily="34" charset="-120"/>
              </a:rPr>
              <a:t>let p: PaymentData = {</a:t>
            </a:r>
            <a:endParaRPr lang="en-US" sz="1250" dirty="0"/>
          </a:p>
          <a:p>
            <a:pPr marL="0" indent="0" algn="l">
              <a:lnSpc>
                <a:spcPct val="112000"/>
              </a:lnSpc>
              <a:buNone/>
            </a:pPr>
            <a:r>
              <a:rPr lang="en-US" sz="1250" dirty="0">
                <a:solidFill>
                  <a:srgbClr val="D7E6E6"/>
                </a:solidFill>
                <a:latin typeface="Courier New" pitchFamily="34" charset="0"/>
                <a:ea typeface="Courier New" pitchFamily="34" charset="-122"/>
                <a:cs typeface="Courier New" pitchFamily="34" charset="-120"/>
              </a:rPr>
              <a:t>  transactionId: "TXN001",</a:t>
            </a:r>
            <a:endParaRPr lang="en-US" sz="1250" dirty="0"/>
          </a:p>
          <a:p>
            <a:pPr marL="0" indent="0" algn="l">
              <a:lnSpc>
                <a:spcPct val="112000"/>
              </a:lnSpc>
              <a:buNone/>
            </a:pPr>
            <a:r>
              <a:rPr lang="en-US" sz="1250" dirty="0">
                <a:solidFill>
                  <a:srgbClr val="D7E6E6"/>
                </a:solidFill>
                <a:latin typeface="Courier New" pitchFamily="34" charset="0"/>
                <a:ea typeface="Courier New" pitchFamily="34" charset="-122"/>
                <a:cs typeface="Courier New" pitchFamily="34" charset="-120"/>
              </a:rPr>
              <a:t>  amount: 500000, ... };</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D7E6E6"/>
                </a:solidFill>
                <a:latin typeface="Courier New" pitchFamily="34" charset="0"/>
                <a:ea typeface="Courier New" pitchFamily="34" charset="-122"/>
                <a:cs typeface="Courier New" pitchFamily="34" charset="-120"/>
              </a:rPr>
              <a:t>console.log(p.amout);</a:t>
            </a:r>
            <a:endParaRPr lang="en-US" sz="1250" dirty="0"/>
          </a:p>
          <a:p>
            <a:pPr marL="0" indent="0" algn="l">
              <a:lnSpc>
                <a:spcPct val="112000"/>
              </a:lnSpc>
              <a:buNone/>
            </a:pPr>
            <a:r>
              <a:rPr lang="en-US" sz="1250" dirty="0">
                <a:solidFill>
                  <a:srgbClr val="9FE0C8"/>
                </a:solidFill>
                <a:latin typeface="Courier New" pitchFamily="34" charset="0"/>
                <a:ea typeface="Courier New" pitchFamily="34" charset="-122"/>
                <a:cs typeface="Courier New" pitchFamily="34" charset="-120"/>
              </a:rPr>
              <a:t>// ✅ Báo lỗi ngay lập tức</a:t>
            </a:r>
            <a:endParaRPr lang="en-US" sz="1250" dirty="0"/>
          </a:p>
        </p:txBody>
      </p:sp>
      <p:sp>
        <p:nvSpPr>
          <p:cNvPr id="13" name="Shape 10"/>
          <p:cNvSpPr/>
          <p:nvPr/>
        </p:nvSpPr>
        <p:spPr>
          <a:xfrm>
            <a:off x="548640" y="4937760"/>
            <a:ext cx="11064240" cy="1371600"/>
          </a:xfrm>
          <a:prstGeom prst="roundRect">
            <a:avLst>
              <a:gd name="adj" fmla="val 6000"/>
            </a:avLst>
          </a:prstGeom>
          <a:solidFill>
            <a:srgbClr val="FFFFFF">
              <a:alpha val="10000"/>
            </a:srgbClr>
          </a:solidFill>
          <a:ln w="12700">
            <a:solidFill>
              <a:srgbClr val="EF4444"/>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868680" y="5349240"/>
            <a:ext cx="502920" cy="502920"/>
          </a:xfrm>
          <a:prstGeom prst="rect">
            <a:avLst/>
          </a:prstGeom>
        </p:spPr>
      </p:pic>
      <p:sp>
        <p:nvSpPr>
          <p:cNvPr id="15" name="Text 11"/>
          <p:cNvSpPr/>
          <p:nvPr/>
        </p:nvSpPr>
        <p:spPr>
          <a:xfrm>
            <a:off x="1554480" y="4937760"/>
            <a:ext cx="9784080" cy="137160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Nguyên tắc:  </a:t>
            </a:r>
            <a:r>
              <a:rPr lang="en-US" sz="1400" dirty="0">
                <a:solidFill>
                  <a:srgbClr val="E6F1F1"/>
                </a:solidFill>
                <a:latin typeface="Calibri" pitchFamily="34" charset="0"/>
                <a:ea typeface="Calibri" pitchFamily="34" charset="-122"/>
                <a:cs typeface="Calibri" pitchFamily="34" charset="-120"/>
              </a:rPr>
              <a:t>Chỉ dùng any khi thực sự không còn cách nào khác. Với dữ liệu giao dịch, luôn định nghĩa type rõ ràng như PaymentData. Một lỗi kiểu dữ liệu trong hệ thống payment có thể gây hậu quả nghiêm trọng — TypeScript sinh ra để chặn lỗi đó từ sớm.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502920" y="457200"/>
            <a:ext cx="658368" cy="658368"/>
          </a:xfrm>
          <a:prstGeom prst="ellipse">
            <a:avLst/>
          </a:prstGeom>
          <a:solidFill>
            <a:srgbClr val="028090"/>
          </a:solidFill>
          <a:ln/>
          <a:effectLst>
            <a:outerShdw blurRad="88900" dist="25400" dir="5400000" algn="bl" rotWithShape="0">
              <a:srgbClr val="000000">
                <a:alpha val="12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612648"/>
            <a:ext cx="347472" cy="347472"/>
          </a:xfrm>
          <a:prstGeom prst="rect">
            <a:avLst/>
          </a:prstGeom>
        </p:spPr>
      </p:pic>
      <p:sp>
        <p:nvSpPr>
          <p:cNvPr id="4" name="Text 1"/>
          <p:cNvSpPr/>
          <p:nvPr/>
        </p:nvSpPr>
        <p:spPr>
          <a:xfrm>
            <a:off x="1325880" y="457200"/>
            <a:ext cx="9601200" cy="658368"/>
          </a:xfrm>
          <a:prstGeom prst="rect">
            <a:avLst/>
          </a:prstGeom>
          <a:noFill/>
          <a:ln/>
        </p:spPr>
        <p:txBody>
          <a:bodyPr wrap="square" lIns="0" tIns="0" rIns="0" bIns="0" rtlCol="0" anchor="ctr"/>
          <a:lstStyle/>
          <a:p>
            <a:pPr marL="0" indent="0">
              <a:buNone/>
            </a:pPr>
            <a:r>
              <a:rPr lang="en-US" sz="2700" b="1" dirty="0">
                <a:solidFill>
                  <a:srgbClr val="12343B"/>
                </a:solidFill>
                <a:latin typeface="Calibri" pitchFamily="34" charset="0"/>
                <a:ea typeface="Calibri" pitchFamily="34" charset="-122"/>
                <a:cs typeface="Calibri" pitchFamily="34" charset="-120"/>
              </a:rPr>
              <a:t>Tổng kết kiến thức cốt lõi</a:t>
            </a:r>
            <a:endParaRPr lang="en-US" sz="2700" dirty="0"/>
          </a:p>
        </p:txBody>
      </p:sp>
      <p:sp>
        <p:nvSpPr>
          <p:cNvPr id="5" name="Text 2"/>
          <p:cNvSpPr/>
          <p:nvPr/>
        </p:nvSpPr>
        <p:spPr>
          <a:xfrm>
            <a:off x="10241280" y="548640"/>
            <a:ext cx="1417320" cy="457200"/>
          </a:xfrm>
          <a:prstGeom prst="rect">
            <a:avLst/>
          </a:prstGeom>
          <a:noFill/>
          <a:ln/>
        </p:spPr>
        <p:txBody>
          <a:bodyPr wrap="square" rtlCol="0" anchor="ctr"/>
          <a:lstStyle/>
          <a:p>
            <a:pPr marL="0" indent="0" algn="r">
              <a:buNone/>
            </a:pPr>
            <a:r>
              <a:rPr lang="en-US" sz="1200" b="1" kern="0" spc="200" dirty="0">
                <a:solidFill>
                  <a:srgbClr val="00A896"/>
                </a:solidFill>
                <a:latin typeface="Calibri" pitchFamily="34" charset="0"/>
                <a:ea typeface="Calibri" pitchFamily="34" charset="-122"/>
                <a:cs typeface="Calibri" pitchFamily="34" charset="-120"/>
              </a:rPr>
              <a:t>BÀI 7</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4937760"/>
        </p:xfrm>
        <a:graphic>
          <a:graphicData uri="http://schemas.openxmlformats.org/drawingml/2006/table">
            <a:tbl>
              <a:tblPr/>
              <a:tblGrid>
                <a:gridCol w="24688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54864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Khái niệm</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028090"/>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Cú pháp</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028090"/>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Ý nghĩa</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548640">
                <a:tc>
                  <a:txBody>
                    <a:bodyPr/>
                    <a:lstStyle/>
                    <a:p>
                      <a:pPr marL="0" indent="0" algn="l">
                        <a:buNone/>
                      </a:pPr>
                      <a:r>
                        <a:rPr lang="en-US" sz="1400" b="1" dirty="0">
                          <a:solidFill>
                            <a:srgbClr val="12343B"/>
                          </a:solidFill>
                          <a:latin typeface="Calibri" pitchFamily="34" charset="0"/>
                          <a:ea typeface="Calibri" pitchFamily="34" charset="-122"/>
                          <a:cs typeface="Calibri" pitchFamily="34" charset="-120"/>
                        </a:rPr>
                        <a:t>Điều kiện</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tc>
                  <a:txBody>
                    <a:bodyPr/>
                    <a:lstStyle/>
                    <a:p>
                      <a:pPr marL="0" indent="0" algn="l">
                        <a:buNone/>
                      </a:pPr>
                      <a:r>
                        <a:rPr lang="en-US" sz="1400" dirty="0">
                          <a:solidFill>
                            <a:srgbClr val="028090"/>
                          </a:solidFill>
                          <a:latin typeface="Courier New" pitchFamily="34" charset="0"/>
                          <a:ea typeface="Courier New" pitchFamily="34" charset="-122"/>
                          <a:cs typeface="Courier New" pitchFamily="34" charset="-120"/>
                        </a:rPr>
                        <a:t>if (...) { } else { }</a:t>
                      </a:r>
                      <a:endParaRPr lang="en-US" sz="1400" dirty="0">
                        <a:latin typeface="Courier New" charset="0"/>
                        <a:ea typeface="Courier New" charset="0"/>
                        <a:cs typeface="Courier New"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tc>
                  <a:txBody>
                    <a:bodyPr/>
                    <a:lstStyle/>
                    <a:p>
                      <a:pPr marL="0" indent="0" algn="l">
                        <a:buNone/>
                      </a:pPr>
                      <a:r>
                        <a:rPr lang="en-US" sz="1400" dirty="0">
                          <a:solidFill>
                            <a:srgbClr val="12343B"/>
                          </a:solidFill>
                          <a:latin typeface="Calibri" pitchFamily="34" charset="0"/>
                          <a:ea typeface="Calibri" pitchFamily="34" charset="-122"/>
                          <a:cs typeface="Calibri" pitchFamily="34" charset="-120"/>
                        </a:rPr>
                        <a:t>Ra quyết định theo điều kiện</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extLst>
                  <a:ext uri="{0D108BD9-81ED-4DB2-BD59-A6C34878D82A}">
                    <a16:rowId xmlns:a16="http://schemas.microsoft.com/office/drawing/2014/main" val="10001"/>
                  </a:ext>
                </a:extLst>
              </a:tr>
              <a:tr h="548640">
                <a:tc>
                  <a:txBody>
                    <a:bodyPr/>
                    <a:lstStyle/>
                    <a:p>
                      <a:pPr marL="0" indent="0" algn="l">
                        <a:buNone/>
                      </a:pPr>
                      <a:r>
                        <a:rPr lang="en-US" sz="1400" b="1" dirty="0">
                          <a:solidFill>
                            <a:srgbClr val="12343B"/>
                          </a:solidFill>
                          <a:latin typeface="Calibri" pitchFamily="34" charset="0"/>
                          <a:ea typeface="Calibri" pitchFamily="34" charset="-122"/>
                          <a:cs typeface="Calibri" pitchFamily="34" charset="-120"/>
                        </a:rPr>
                        <a:t>For truyền thống</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28090"/>
                          </a:solidFill>
                          <a:latin typeface="Courier New" pitchFamily="34" charset="0"/>
                          <a:ea typeface="Courier New" pitchFamily="34" charset="-122"/>
                          <a:cs typeface="Courier New" pitchFamily="34" charset="-120"/>
                        </a:rPr>
                        <a:t>for (let i=0; i&lt;n; i++)</a:t>
                      </a:r>
                      <a:endParaRPr lang="en-US" sz="1400" dirty="0">
                        <a:latin typeface="Courier New" charset="0"/>
                        <a:ea typeface="Courier New" charset="0"/>
                        <a:cs typeface="Courier New"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2343B"/>
                          </a:solidFill>
                          <a:latin typeface="Calibri" pitchFamily="34" charset="0"/>
                          <a:ea typeface="Calibri" pitchFamily="34" charset="-122"/>
                          <a:cs typeface="Calibri" pitchFamily="34" charset="-120"/>
                        </a:rPr>
                        <a:t>Lặp có index</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400" b="1" dirty="0">
                          <a:solidFill>
                            <a:srgbClr val="12343B"/>
                          </a:solidFill>
                          <a:latin typeface="Calibri" pitchFamily="34" charset="0"/>
                          <a:ea typeface="Calibri" pitchFamily="34" charset="-122"/>
                          <a:cs typeface="Calibri" pitchFamily="34" charset="-120"/>
                        </a:rPr>
                        <a:t>For...of</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tc>
                  <a:txBody>
                    <a:bodyPr/>
                    <a:lstStyle/>
                    <a:p>
                      <a:pPr marL="0" indent="0" algn="l">
                        <a:buNone/>
                      </a:pPr>
                      <a:r>
                        <a:rPr lang="en-US" sz="1400" dirty="0">
                          <a:solidFill>
                            <a:srgbClr val="028090"/>
                          </a:solidFill>
                          <a:latin typeface="Courier New" pitchFamily="34" charset="0"/>
                          <a:ea typeface="Courier New" pitchFamily="34" charset="-122"/>
                          <a:cs typeface="Courier New" pitchFamily="34" charset="-120"/>
                        </a:rPr>
                        <a:t>for (const x of arr)</a:t>
                      </a:r>
                      <a:endParaRPr lang="en-US" sz="1400" dirty="0">
                        <a:latin typeface="Courier New" charset="0"/>
                        <a:ea typeface="Courier New" charset="0"/>
                        <a:cs typeface="Courier New"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tc>
                  <a:txBody>
                    <a:bodyPr/>
                    <a:lstStyle/>
                    <a:p>
                      <a:pPr marL="0" indent="0" algn="l">
                        <a:buNone/>
                      </a:pPr>
                      <a:r>
                        <a:rPr lang="en-US" sz="1400" dirty="0">
                          <a:solidFill>
                            <a:srgbClr val="12343B"/>
                          </a:solidFill>
                          <a:latin typeface="Calibri" pitchFamily="34" charset="0"/>
                          <a:ea typeface="Calibri" pitchFamily="34" charset="-122"/>
                          <a:cs typeface="Calibri" pitchFamily="34" charset="-120"/>
                        </a:rPr>
                        <a:t>Lặp qua từng phần tử</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extLst>
                  <a:ext uri="{0D108BD9-81ED-4DB2-BD59-A6C34878D82A}">
                    <a16:rowId xmlns:a16="http://schemas.microsoft.com/office/drawing/2014/main" val="10003"/>
                  </a:ext>
                </a:extLst>
              </a:tr>
              <a:tr h="548640">
                <a:tc>
                  <a:txBody>
                    <a:bodyPr/>
                    <a:lstStyle/>
                    <a:p>
                      <a:pPr marL="0" indent="0" algn="l">
                        <a:buNone/>
                      </a:pPr>
                      <a:r>
                        <a:rPr lang="en-US" sz="1400" b="1" dirty="0">
                          <a:solidFill>
                            <a:srgbClr val="12343B"/>
                          </a:solidFill>
                          <a:latin typeface="Calibri" pitchFamily="34" charset="0"/>
                          <a:ea typeface="Calibri" pitchFamily="34" charset="-122"/>
                          <a:cs typeface="Calibri" pitchFamily="34" charset="-120"/>
                        </a:rPr>
                        <a:t>filter</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28090"/>
                          </a:solidFill>
                          <a:latin typeface="Courier New" pitchFamily="34" charset="0"/>
                          <a:ea typeface="Courier New" pitchFamily="34" charset="-122"/>
                          <a:cs typeface="Courier New" pitchFamily="34" charset="-120"/>
                        </a:rPr>
                        <a:t>arr.filter(x =&gt; điều kiện)</a:t>
                      </a:r>
                      <a:endParaRPr lang="en-US" sz="1400" dirty="0">
                        <a:latin typeface="Courier New" charset="0"/>
                        <a:ea typeface="Courier New" charset="0"/>
                        <a:cs typeface="Courier New"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2343B"/>
                          </a:solidFill>
                          <a:latin typeface="Calibri" pitchFamily="34" charset="0"/>
                          <a:ea typeface="Calibri" pitchFamily="34" charset="-122"/>
                          <a:cs typeface="Calibri" pitchFamily="34" charset="-120"/>
                        </a:rPr>
                        <a:t>Lọc phần tử</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lgn="l">
                        <a:buNone/>
                      </a:pPr>
                      <a:r>
                        <a:rPr lang="en-US" sz="1400" b="1" dirty="0">
                          <a:solidFill>
                            <a:srgbClr val="12343B"/>
                          </a:solidFill>
                          <a:latin typeface="Calibri" pitchFamily="34" charset="0"/>
                          <a:ea typeface="Calibri" pitchFamily="34" charset="-122"/>
                          <a:cs typeface="Calibri" pitchFamily="34" charset="-120"/>
                        </a:rPr>
                        <a:t>map</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tc>
                  <a:txBody>
                    <a:bodyPr/>
                    <a:lstStyle/>
                    <a:p>
                      <a:pPr marL="0" indent="0" algn="l">
                        <a:buNone/>
                      </a:pPr>
                      <a:r>
                        <a:rPr lang="en-US" sz="1400" dirty="0">
                          <a:solidFill>
                            <a:srgbClr val="028090"/>
                          </a:solidFill>
                          <a:latin typeface="Courier New" pitchFamily="34" charset="0"/>
                          <a:ea typeface="Courier New" pitchFamily="34" charset="-122"/>
                          <a:cs typeface="Courier New" pitchFamily="34" charset="-120"/>
                        </a:rPr>
                        <a:t>arr.map(x =&gt; giá trị mới)</a:t>
                      </a:r>
                      <a:endParaRPr lang="en-US" sz="1400" dirty="0">
                        <a:latin typeface="Courier New" charset="0"/>
                        <a:ea typeface="Courier New" charset="0"/>
                        <a:cs typeface="Courier New"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tc>
                  <a:txBody>
                    <a:bodyPr/>
                    <a:lstStyle/>
                    <a:p>
                      <a:pPr marL="0" indent="0" algn="l">
                        <a:buNone/>
                      </a:pPr>
                      <a:r>
                        <a:rPr lang="en-US" sz="1400" dirty="0">
                          <a:solidFill>
                            <a:srgbClr val="12343B"/>
                          </a:solidFill>
                          <a:latin typeface="Calibri" pitchFamily="34" charset="0"/>
                          <a:ea typeface="Calibri" pitchFamily="34" charset="-122"/>
                          <a:cs typeface="Calibri" pitchFamily="34" charset="-120"/>
                        </a:rPr>
                        <a:t>Biến đổi danh sách</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extLst>
                  <a:ext uri="{0D108BD9-81ED-4DB2-BD59-A6C34878D82A}">
                    <a16:rowId xmlns:a16="http://schemas.microsoft.com/office/drawing/2014/main" val="10005"/>
                  </a:ext>
                </a:extLst>
              </a:tr>
              <a:tr h="548640">
                <a:tc>
                  <a:txBody>
                    <a:bodyPr/>
                    <a:lstStyle/>
                    <a:p>
                      <a:pPr marL="0" indent="0" algn="l">
                        <a:buNone/>
                      </a:pPr>
                      <a:r>
                        <a:rPr lang="en-US" sz="1400" b="1" dirty="0">
                          <a:solidFill>
                            <a:srgbClr val="12343B"/>
                          </a:solidFill>
                          <a:latin typeface="Calibri" pitchFamily="34" charset="0"/>
                          <a:ea typeface="Calibri" pitchFamily="34" charset="-122"/>
                          <a:cs typeface="Calibri" pitchFamily="34" charset="-120"/>
                        </a:rPr>
                        <a:t>Named export</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28090"/>
                          </a:solidFill>
                          <a:latin typeface="Courier New" pitchFamily="34" charset="0"/>
                          <a:ea typeface="Courier New" pitchFamily="34" charset="-122"/>
                          <a:cs typeface="Courier New" pitchFamily="34" charset="-120"/>
                        </a:rPr>
                        <a:t>export const / import { }</a:t>
                      </a:r>
                      <a:endParaRPr lang="en-US" sz="1400" dirty="0">
                        <a:latin typeface="Courier New" charset="0"/>
                        <a:ea typeface="Courier New" charset="0"/>
                        <a:cs typeface="Courier New"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2343B"/>
                          </a:solidFill>
                          <a:latin typeface="Calibri" pitchFamily="34" charset="0"/>
                          <a:ea typeface="Calibri" pitchFamily="34" charset="-122"/>
                          <a:cs typeface="Calibri" pitchFamily="34" charset="-120"/>
                        </a:rPr>
                        <a:t>Xuất/nhập theo tên</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48640">
                <a:tc>
                  <a:txBody>
                    <a:bodyPr/>
                    <a:lstStyle/>
                    <a:p>
                      <a:pPr marL="0" indent="0" algn="l">
                        <a:buNone/>
                      </a:pPr>
                      <a:r>
                        <a:rPr lang="en-US" sz="1400" b="1" dirty="0">
                          <a:solidFill>
                            <a:srgbClr val="12343B"/>
                          </a:solidFill>
                          <a:latin typeface="Calibri" pitchFamily="34" charset="0"/>
                          <a:ea typeface="Calibri" pitchFamily="34" charset="-122"/>
                          <a:cs typeface="Calibri" pitchFamily="34" charset="-120"/>
                        </a:rPr>
                        <a:t>Default export</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tc>
                  <a:txBody>
                    <a:bodyPr/>
                    <a:lstStyle/>
                    <a:p>
                      <a:pPr marL="0" indent="0" algn="l">
                        <a:buNone/>
                      </a:pPr>
                      <a:r>
                        <a:rPr lang="en-US" sz="1400" dirty="0">
                          <a:solidFill>
                            <a:srgbClr val="028090"/>
                          </a:solidFill>
                          <a:latin typeface="Courier New" pitchFamily="34" charset="0"/>
                          <a:ea typeface="Courier New" pitchFamily="34" charset="-122"/>
                          <a:cs typeface="Courier New" pitchFamily="34" charset="-120"/>
                        </a:rPr>
                        <a:t>export default / import x</a:t>
                      </a:r>
                      <a:endParaRPr lang="en-US" sz="1400" dirty="0">
                        <a:latin typeface="Courier New" charset="0"/>
                        <a:ea typeface="Courier New" charset="0"/>
                        <a:cs typeface="Courier New"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tc>
                  <a:txBody>
                    <a:bodyPr/>
                    <a:lstStyle/>
                    <a:p>
                      <a:pPr marL="0" indent="0" algn="l">
                        <a:buNone/>
                      </a:pPr>
                      <a:r>
                        <a:rPr lang="en-US" sz="1400" dirty="0">
                          <a:solidFill>
                            <a:srgbClr val="12343B"/>
                          </a:solidFill>
                          <a:latin typeface="Calibri" pitchFamily="34" charset="0"/>
                          <a:ea typeface="Calibri" pitchFamily="34" charset="-122"/>
                          <a:cs typeface="Calibri" pitchFamily="34" charset="-120"/>
                        </a:rPr>
                        <a:t>Xuất/nhập mặc định</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EAF3F3"/>
                    </a:solidFill>
                  </a:tcPr>
                </a:tc>
                <a:extLst>
                  <a:ext uri="{0D108BD9-81ED-4DB2-BD59-A6C34878D82A}">
                    <a16:rowId xmlns:a16="http://schemas.microsoft.com/office/drawing/2014/main" val="10007"/>
                  </a:ext>
                </a:extLst>
              </a:tr>
              <a:tr h="548640">
                <a:tc>
                  <a:txBody>
                    <a:bodyPr/>
                    <a:lstStyle/>
                    <a:p>
                      <a:pPr marL="0" indent="0" algn="l">
                        <a:buNone/>
                      </a:pPr>
                      <a:r>
                        <a:rPr lang="en-US" sz="1400" b="1" dirty="0">
                          <a:solidFill>
                            <a:srgbClr val="12343B"/>
                          </a:solidFill>
                          <a:latin typeface="Calibri" pitchFamily="34" charset="0"/>
                          <a:ea typeface="Calibri" pitchFamily="34" charset="-122"/>
                          <a:cs typeface="Calibri" pitchFamily="34" charset="-120"/>
                        </a:rPr>
                        <a:t>any</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28090"/>
                          </a:solidFill>
                          <a:latin typeface="Courier New" pitchFamily="34" charset="0"/>
                          <a:ea typeface="Courier New" pitchFamily="34" charset="-122"/>
                          <a:cs typeface="Courier New" pitchFamily="34" charset="-120"/>
                        </a:rPr>
                        <a:t>let x: any</a:t>
                      </a:r>
                      <a:endParaRPr lang="en-US" sz="1400" dirty="0">
                        <a:latin typeface="Courier New" charset="0"/>
                        <a:ea typeface="Courier New" charset="0"/>
                        <a:cs typeface="Courier New"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2343B"/>
                          </a:solidFill>
                          <a:latin typeface="Calibri" pitchFamily="34" charset="0"/>
                          <a:ea typeface="Calibri" pitchFamily="34" charset="-122"/>
                          <a:cs typeface="Calibri" pitchFamily="34" charset="-120"/>
                        </a:rPr>
                        <a:t>Tắt kiểm tra kiểu — nên tránh</a:t>
                      </a:r>
                      <a:endParaRPr lang="en-US" sz="1400" dirty="0">
                        <a:latin typeface="Calibri" charset="0"/>
                        <a:ea typeface="Calibri" charset="0"/>
                        <a:cs typeface="Calibri" charset="0"/>
                      </a:endParaRPr>
                    </a:p>
                  </a:txBody>
                  <a:tcPr marL="101600" marR="101600" marT="25400" marB="25400" anchor="ctr">
                    <a:lnL w="6350" cap="flat" cmpd="sng" algn="ctr">
                      <a:solidFill>
                        <a:srgbClr val="D2E0E0"/>
                      </a:solidFill>
                      <a:prstDash val="solid"/>
                      <a:round/>
                      <a:headEnd type="none" w="med" len="med"/>
                      <a:tailEnd type="none" w="med" len="med"/>
                    </a:lnL>
                    <a:lnR w="6350" cap="flat" cmpd="sng" algn="ctr">
                      <a:solidFill>
                        <a:srgbClr val="D2E0E0"/>
                      </a:solidFill>
                      <a:prstDash val="solid"/>
                      <a:round/>
                      <a:headEnd type="none" w="med" len="med"/>
                      <a:tailEnd type="none" w="med" len="med"/>
                    </a:lnR>
                    <a:lnT w="6350" cap="flat" cmpd="sng" algn="ctr">
                      <a:solidFill>
                        <a:srgbClr val="D2E0E0"/>
                      </a:solidFill>
                      <a:prstDash val="solid"/>
                      <a:round/>
                      <a:headEnd type="none" w="med" len="med"/>
                      <a:tailEnd type="none" w="med" len="med"/>
                    </a:lnT>
                    <a:lnB w="6350" cap="flat" cmpd="sng" algn="ctr">
                      <a:solidFill>
                        <a:srgbClr val="D2E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2037</Words>
  <Application>Microsoft Office PowerPoint</Application>
  <PresentationFormat>Widescreen</PresentationFormat>
  <Paragraphs>233</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TypeScript – IF, For và For...of</dc:title>
  <dc:subject>PptxGenJS Presentation</dc:subject>
  <dc:creator>CO-WELL Tech Academy</dc:creator>
  <cp:lastModifiedBy>OP-staff16</cp:lastModifiedBy>
  <cp:revision>3</cp:revision>
  <dcterms:created xsi:type="dcterms:W3CDTF">2026-07-07T05:00:49Z</dcterms:created>
  <dcterms:modified xsi:type="dcterms:W3CDTF">2026-07-08T04:12:41Z</dcterms:modified>
</cp:coreProperties>
</file>